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optimize LogS with an LLM under a 15-eval budget. The LLM is the brain; ESOL is the oracle.</a:t>
            </a:r>
          </a:p>
          <a:p>
            <a:r>
              <a:t>WHY runs: an LLM is stochastic, one run could be a fluke. WHY 2 runs: the minimum that shows reproducibility vs path-dependence while staying affordable under hand-typed prompting.</a:t>
            </a:r>
          </a:p>
          <a:p>
            <a:r>
              <a:t>WHY metrics: 'best found' alone is not a result. Three questions: did we find the best (regret), was the LLM good at its job (accuracy, differs per approach), was the search efficient (efficiency, invalid rate, diversity). One shared, unit-tested metrics module measures all three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2 runs here: Variant A run 2 switched models to prove the behavior is not one model's quirk; B and C run 2 tested reproducibility. That turned a single observation into a statement about reproducibility and path-dependence.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each metric is computed:</a:t>
            </a:r>
          </a:p>
          <a:p>
            <a:r>
              <a:t>Hit-rate = fraction of proposals whose ESOL beat the seed best (A1 makes no prediction, so this is its quality signal).</a:t>
            </a:r>
          </a:p>
          <a:p>
            <a:r>
              <a:t>Success rate = fraction of evals that set a new best.</a:t>
            </a:r>
          </a:p>
          <a:p>
            <a:r>
              <a:t>Invalid rate = 1 - mean(valid) from RDKit. Diversity = mean pairwise Tanimoto of Morgan fingerprints (lower = more diverse).</a:t>
            </a:r>
          </a:p>
          <a:p>
            <a:r>
              <a:t>WHY regret/normalized are N/A for A1: open-ended generation has no fixed pool, so no meaningful ceiling. The AqSolDB ESOL ceiling +17.14 is a degenerate unbounded value, not a real target.</a:t>
            </a:r>
          </a:p>
          <a:p>
            <a:r>
              <a:t>WHY these numbers: A wins on score but repeats one exploit (least diverse). B's two runs disagree (path-dependent). C is most reliable (0% invalid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does not cheat maliciously; it optimizes the objective exactly as written. This is the core weakness of a cheap descriptor oracle, and it is a good result to report. Note: word the absurd molecules as 'degenerate' or 'exploited', honestly framed.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Dashed gray line at +0.21 is the seed best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comparison.png and diversity.png also exist in plots/. WHY 2 runs paid off: lets me state A's exploit is reproducible, B is path-dependent, C is reliable. None of that is possible from a single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2 runs each: LLM predictions vary by model and session, so two runs per acquisition function check the result is not a single-session artifact. The pool was a random AqSolDB draw, mostly insoluble molecules, so the best score any method could reach was +0.21. Keep this in mind for every A2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 = LLM prediction, true = ESOL of the picked molecule. MAE=mean|mu-true|, RMSE=sqrt(mean(err^2)), bias=mean(mu-true), Pearson=corr, R2=1-SSres/SStot, sign-acc=fraction on correct side of the seed, confidence calibration = corr(confidence, |error|).</a:t>
            </a:r>
          </a:p>
          <a:p>
            <a:r>
              <a:t>WHY R^2 is negative: it compares the model's squared error to always guessing the average true value. The LLM is noisy AND biased upward, so it loses to that trivial baseline. Weak positive Pearson means it gets rough order partly right, but ordering is not enough for accurate numbers.</a:t>
            </a:r>
          </a:p>
          <a:p>
            <a:r>
              <a:t>WHY confidence is meaningless: the LLM gives a number because asked; it is not tied to real correctness (known calibration problem). So the sigma fed to EI/UCB carried almost no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honest finding of Approach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A2 comparison is EI/UCB vs the pool ceiling (+0.21), which both reach exactly. The bottleneck was the pool, not the math. This lesson shaped A3.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stratify by ESOL not experiment: the oracle is ESOL, which disagrees with experiment for salts/sugars, so an experiment-stratified pool was still dead. WHY validate first (anti-hallucination): --auto answers duels by true ESOL (optionally with noise) to prove the loop, the BT fit, the acquisition, and logging are correct without any LLM, and that it responds to ranker quality. Only then the real manual runs.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pred = Bradley-Terry utility, true = ESOL of the whole pool. Spearman/Kendall = rank correlations; pairwise acc = fraction of molecule pairs ordered the same way; top-1 hit = is the utility's #1 the true best; NDCG@5 = top-5 ranking quality vs ideal.</a:t>
            </a:r>
          </a:p>
          <a:p>
            <a:r>
              <a:t>WHY good: 71-80% pairwise accuracy is far above random 50% and far better than A2's negative R^2. Ranking IS easier for the LLM than prediction (the core result).</a:t>
            </a:r>
          </a:p>
          <a:p>
            <a:r>
              <a:t>WHY top-1 hit = 0 yet ceiling reached: the BT #1 was not the single true best, but UCB also explores high-uncertainty candidates, so it tested the true best anyway within budget. A ranker can be imperfect at the very top and still drive a successful optimization.</a:t>
            </a:r>
          </a:p>
          <a:p>
            <a:r>
              <a:t>WHY regret genuinely 0 (unlike A2): the stratified pool had real headroom and the loop reached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directly justifies the whole approach.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comparison3.png also exists: both runs reach the pool ceiling above the seed. The --auto validation shows convergence is caused by ranking quality, not a bug or a lucky pool.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CAVEAT (a required slide): the three are NOT on identical problems. A1 is open-ended (no pool, regret undefined); A2 and A3 use different pools (A2 ceiling +0.21, A3 +1.14). Compare best-LogS and efficiency; use each approach's own quality metric for LLM skill. Figure comparison_all.png shows the best-LogS bars with the random baseline.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metrics framework is itself a contribution: shared optimization metrics are comparable across approaches; per-approach accuracy judges each LLM role by the metric that fits it. Every reported number has a known-answer test behind it (26 tests total).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natural synthesis combines the LLM's strengths (invention and comparison) and avoids its weakness (exact numeric prediction). Every result here used off-the-shelf models with no fine-tuning.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286000"/>
            <a:ext cx="12191695" cy="1554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3600" b="1">
                <a:solidFill>
                  <a:srgbClr val="FFFFFF"/>
                </a:solidFill>
              </a:defRPr>
            </a:pPr>
            <a:r>
              <a:t>LLMs for Ranking-based Solubility Optimization</a:t>
            </a:r>
          </a:p>
        </p:txBody>
      </p:sp>
      <p:sp>
        <p:nvSpPr>
          <p:cNvPr id="3" name="TextBox 2"/>
          <p:cNvSpPr txBox="1"/>
          <p:nvPr/>
        </p:nvSpPr>
        <p:spPr>
          <a:xfrm>
            <a:off x="914400" y="4023360"/>
            <a:ext cx="10332720" cy="1097280"/>
          </a:xfrm>
          <a:prstGeom prst="rect">
            <a:avLst/>
          </a:prstGeom>
          <a:noFill/>
        </p:spPr>
        <p:txBody>
          <a:bodyPr wrap="square">
            <a:spAutoFit/>
          </a:bodyPr>
          <a:lstStyle/>
          <a:p>
            <a:pPr algn="ctr">
              <a:spcAft>
                <a:spcPts val="400"/>
              </a:spcAft>
              <a:defRPr sz="2000" b="0">
                <a:solidFill>
                  <a:srgbClr val="555555"/>
                </a:solidFill>
              </a:defRPr>
            </a:pPr>
            <a:r>
              <a:t>Using an LLM to find the most water-soluble molecule under a 15-evaluation budget</a:t>
            </a:r>
          </a:p>
        </p:txBody>
      </p:sp>
      <p:sp>
        <p:nvSpPr>
          <p:cNvPr id="4" name="TextBox 3"/>
          <p:cNvSpPr txBox="1"/>
          <p:nvPr/>
        </p:nvSpPr>
        <p:spPr>
          <a:xfrm>
            <a:off x="914400" y="6035040"/>
            <a:ext cx="10332720" cy="548640"/>
          </a:xfrm>
          <a:prstGeom prst="rect">
            <a:avLst/>
          </a:prstGeom>
          <a:noFill/>
        </p:spPr>
        <p:txBody>
          <a:bodyPr wrap="square">
            <a:spAutoFit/>
          </a:bodyPr>
          <a:lstStyle/>
          <a:p>
            <a:pPr algn="ctr">
              <a:spcAft>
                <a:spcPts val="400"/>
              </a:spcAft>
              <a:defRPr sz="1400" b="0">
                <a:solidFill>
                  <a:srgbClr val="555555"/>
                </a:solidFill>
              </a:defRPr>
            </a:pPr>
            <a:r>
              <a:t>Anand Karna  |  MA-INF 4245, Lab AI for Scientific Discovery, University of Bonn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Introduction: the problem and the setup</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Goal: find the molecule with highest aqueous solubility (LogS) using an LLM, budget = 15 evaluations per run</a:t>
            </a:r>
          </a:p>
          <a:p>
            <a:pPr>
              <a:spcAft>
                <a:spcPts val="500"/>
              </a:spcAft>
              <a:defRPr sz="1800" b="0"/>
            </a:pPr>
            <a:r>
              <a:t>•  Oracle: ESOL (Delaney) computes LogS from structure. Cheap, R^2 ~0.69, an estimator not truth</a:t>
            </a:r>
          </a:p>
          <a:p>
            <a:pPr>
              <a:spcAft>
                <a:spcPts val="500"/>
              </a:spcAft>
              <a:defRPr sz="1800" b="0"/>
            </a:pPr>
            <a:r>
              <a:t>•  Dataset: AqSolDB (9,982 molecules). Source of seeds, pools, random baseline. NOT the simulator</a:t>
            </a:r>
          </a:p>
          <a:p>
            <a:pPr>
              <a:spcAft>
                <a:spcPts val="500"/>
              </a:spcAft>
              <a:defRPr sz="1800" b="0"/>
            </a:pPr>
            <a:r>
              <a:t>•  13 fixed seed molecules give the LLM its only context. Bar to beat = methanol +0.208</a:t>
            </a:r>
          </a:p>
          <a:p>
            <a:pPr>
              <a:spcAft>
                <a:spcPts val="500"/>
              </a:spcAft>
              <a:defRPr sz="1800" b="0"/>
            </a:pPr>
            <a:r>
              <a:t>•  No API budget: every prompt copy-pasted by hand into ChatGPT / Claude / DeepSeek / Gemini</a:t>
            </a:r>
          </a:p>
          <a:p>
            <a:pPr>
              <a:spcAft>
                <a:spcPts val="500"/>
              </a:spcAft>
              <a:defRPr sz="1800" b="1">
                <a:solidFill>
                  <a:srgbClr val="1F3A5F"/>
                </a:solidFill>
              </a:defRPr>
            </a:pPr>
            <a:r>
              <a:t>•  Three approaches, each asking LESS of the LLM:</a:t>
            </a:r>
          </a:p>
          <a:p>
            <a:pPr lvl="1">
              <a:spcAft>
                <a:spcPts val="500"/>
              </a:spcAft>
              <a:defRPr sz="1500" b="0">
                <a:solidFill>
                  <a:srgbClr val="555555"/>
                </a:solidFill>
              </a:defRPr>
            </a:pPr>
            <a:r>
              <a:t>   –  A1 Direct Optimizer: the LLM invents molecules</a:t>
            </a:r>
          </a:p>
          <a:p>
            <a:pPr lvl="1">
              <a:spcAft>
                <a:spcPts val="500"/>
              </a:spcAft>
              <a:defRPr sz="1500" b="0">
                <a:solidFill>
                  <a:srgbClr val="555555"/>
                </a:solidFill>
              </a:defRPr>
            </a:pPr>
            <a:r>
              <a:t>   –  A2 BO + Regressor: the LLM predicts a number + confidence</a:t>
            </a:r>
          </a:p>
          <a:p>
            <a:pPr lvl="1">
              <a:spcAft>
                <a:spcPts val="500"/>
              </a:spcAft>
              <a:defRPr sz="1500" b="0">
                <a:solidFill>
                  <a:srgbClr val="555555"/>
                </a:solidFill>
              </a:defRPr>
            </a:pPr>
            <a:r>
              <a:t>   –  A3 Preferential BO: the LLM only judges duels, A vs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468880"/>
            <a:ext cx="12191695"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9FC5E8"/>
                </a:solidFill>
              </a:defRPr>
            </a:pPr>
            <a:r>
              <a:t>Approach 1</a:t>
            </a:r>
          </a:p>
          <a:p>
            <a:pPr algn="ctr">
              <a:spcAft>
                <a:spcPts val="400"/>
              </a:spcAft>
              <a:defRPr sz="3400" b="1">
                <a:solidFill>
                  <a:srgbClr val="FFFFFF"/>
                </a:solidFill>
              </a:defRPr>
            </a:pPr>
            <a:r>
              <a:t>LLM as Direct Optimizer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A1: What and Why</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WHAT: the LLM is the inventor. Each round it sees tested molecules + ESOL LogS, proposes one new SMILES</a:t>
            </a:r>
          </a:p>
          <a:p>
            <a:pPr>
              <a:spcAft>
                <a:spcPts val="500"/>
              </a:spcAft>
              <a:defRPr sz="1800" b="0"/>
            </a:pPr>
            <a:r>
              <a:t>•  No math in the loop: the LLM both proposes and decides direction</a:t>
            </a:r>
          </a:p>
          <a:p>
            <a:pPr>
              <a:spcAft>
                <a:spcPts val="500"/>
              </a:spcAft>
              <a:defRPr sz="1800" b="0"/>
            </a:pPr>
            <a:r>
              <a:t>•  WHY: simplest possible LLM optimizer; if it has chemical intuition it shows here with nothing helping it</a:t>
            </a:r>
          </a:p>
          <a:p>
            <a:pPr>
              <a:spcAft>
                <a:spcPts val="500"/>
              </a:spcAft>
              <a:defRPr sz="1800" b="0"/>
            </a:pPr>
            <a:r>
              <a:t>•  HOW: build prompt -&gt; paste -&gt; validate SMILES (RDKit) -&gt; reject mixtures -&gt; ESOL score -&gt; log -&gt; repeat</a:t>
            </a:r>
          </a:p>
          <a:p>
            <a:pPr>
              <a:spcAft>
                <a:spcPts val="500"/>
              </a:spcAft>
              <a:defRPr sz="1800" b="1">
                <a:solidFill>
                  <a:srgbClr val="1F3A5F"/>
                </a:solidFill>
              </a:defRPr>
            </a:pPr>
            <a:r>
              <a:t>•  Three prompt variants to test how much wording matters:</a:t>
            </a:r>
          </a:p>
          <a:p>
            <a:pPr lvl="1">
              <a:spcAft>
                <a:spcPts val="500"/>
              </a:spcAft>
              <a:defRPr sz="1500" b="0">
                <a:solidFill>
                  <a:srgbClr val="555555"/>
                </a:solidFill>
              </a:defRPr>
            </a:pPr>
            <a:r>
              <a:t>   –  A Chain-of-thought: 'analyze features, then design'</a:t>
            </a:r>
          </a:p>
          <a:p>
            <a:pPr lvl="1">
              <a:spcAft>
                <a:spcPts val="500"/>
              </a:spcAft>
              <a:defRPr sz="1500" b="0">
                <a:solidFill>
                  <a:srgbClr val="555555"/>
                </a:solidFill>
              </a:defRPr>
            </a:pPr>
            <a:r>
              <a:t>   –  B Pragmatic: A + soft ban on trivial tricks</a:t>
            </a:r>
          </a:p>
          <a:p>
            <a:pPr lvl="1">
              <a:spcAft>
                <a:spcPts val="500"/>
              </a:spcAft>
              <a:defRPr sz="1500" b="0">
                <a:solidFill>
                  <a:srgbClr val="555555"/>
                </a:solidFill>
              </a:defRPr>
            </a:pPr>
            <a:r>
              <a:t>   –  C Constrained: hard limits (MW&lt;150, polar group, &lt;=1 ring, single molecule)</a:t>
            </a:r>
          </a:p>
          <a:p>
            <a:pPr>
              <a:spcAft>
                <a:spcPts val="500"/>
              </a:spcAft>
              <a:defRPr sz="1800" b="0"/>
            </a:pPr>
            <a:r>
              <a:t>•  Key decision: show ESOL LogS in prompts (one consistent scoreboard)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A1: per-run metrics (from analysis.py)</a:t>
            </a:r>
          </a:p>
        </p:txBody>
      </p:sp>
      <p:graphicFrame>
        <p:nvGraphicFramePr>
          <p:cNvPr id="3" name="Table 2"/>
          <p:cNvGraphicFramePr>
            <a:graphicFrameLocks noGrp="1"/>
          </p:cNvGraphicFramePr>
          <p:nvPr/>
        </p:nvGraphicFramePr>
        <p:xfrm>
          <a:off x="457200" y="1097280"/>
          <a:ext cx="11247120" cy="2560320"/>
        </p:xfrm>
        <a:graphic>
          <a:graphicData uri="http://schemas.openxmlformats.org/drawingml/2006/table">
            <a:tbl>
              <a:tblPr firstRow="1" bandRow="1">
                <a:tableStyleId>{5C22544A-7EE6-4342-B048-85BDC9FD1C3A}</a:tableStyleId>
              </a:tblPr>
              <a:tblGrid>
                <a:gridCol w="1606731"/>
                <a:gridCol w="1606731"/>
                <a:gridCol w="1606731"/>
                <a:gridCol w="1606731"/>
                <a:gridCol w="1606731"/>
                <a:gridCol w="1606731"/>
                <a:gridCol w="1606734"/>
              </a:tblGrid>
              <a:tr h="365760">
                <a:tc>
                  <a:txBody>
                    <a:bodyPr/>
                    <a:lstStyle/>
                    <a:p>
                      <a:pPr>
                        <a:defRPr sz="1200" b="1">
                          <a:solidFill>
                            <a:srgbClr val="FFFFFF"/>
                          </a:solidFill>
                        </a:defRPr>
                      </a:pPr>
                      <a:r>
                        <a:t>Variant.Run</a:t>
                      </a:r>
                    </a:p>
                  </a:txBody>
                  <a:tcPr>
                    <a:solidFill>
                      <a:srgbClr val="1F3A5F"/>
                    </a:solidFill>
                  </a:tcPr>
                </a:tc>
                <a:tc>
                  <a:txBody>
                    <a:bodyPr/>
                    <a:lstStyle/>
                    <a:p>
                      <a:pPr>
                        <a:defRPr sz="1200" b="1">
                          <a:solidFill>
                            <a:srgbClr val="FFFFFF"/>
                          </a:solidFill>
                        </a:defRPr>
                      </a:pPr>
                      <a:r>
                        <a:t>Best</a:t>
                      </a:r>
                    </a:p>
                  </a:txBody>
                  <a:tcPr>
                    <a:solidFill>
                      <a:srgbClr val="1F3A5F"/>
                    </a:solidFill>
                  </a:tcPr>
                </a:tc>
                <a:tc>
                  <a:txBody>
                    <a:bodyPr/>
                    <a:lstStyle/>
                    <a:p>
                      <a:pPr>
                        <a:defRPr sz="1200" b="1">
                          <a:solidFill>
                            <a:srgbClr val="FFFFFF"/>
                          </a:solidFill>
                        </a:defRPr>
                      </a:pPr>
                      <a:r>
                        <a:t>Improve</a:t>
                      </a:r>
                    </a:p>
                  </a:txBody>
                  <a:tcPr>
                    <a:solidFill>
                      <a:srgbClr val="1F3A5F"/>
                    </a:solidFill>
                  </a:tcPr>
                </a:tc>
                <a:tc>
                  <a:txBody>
                    <a:bodyPr/>
                    <a:lstStyle/>
                    <a:p>
                      <a:pPr>
                        <a:defRPr sz="1200" b="1">
                          <a:solidFill>
                            <a:srgbClr val="FFFFFF"/>
                          </a:solidFill>
                        </a:defRPr>
                      </a:pPr>
                      <a:r>
                        <a:t>Success</a:t>
                      </a:r>
                    </a:p>
                  </a:txBody>
                  <a:tcPr>
                    <a:solidFill>
                      <a:srgbClr val="1F3A5F"/>
                    </a:solidFill>
                  </a:tcPr>
                </a:tc>
                <a:tc>
                  <a:txBody>
                    <a:bodyPr/>
                    <a:lstStyle/>
                    <a:p>
                      <a:pPr>
                        <a:defRPr sz="1200" b="1">
                          <a:solidFill>
                            <a:srgbClr val="FFFFFF"/>
                          </a:solidFill>
                        </a:defRPr>
                      </a:pPr>
                      <a:r>
                        <a:t>Hit-rate</a:t>
                      </a:r>
                    </a:p>
                  </a:txBody>
                  <a:tcPr>
                    <a:solidFill>
                      <a:srgbClr val="1F3A5F"/>
                    </a:solidFill>
                  </a:tcPr>
                </a:tc>
                <a:tc>
                  <a:txBody>
                    <a:bodyPr/>
                    <a:lstStyle/>
                    <a:p>
                      <a:pPr>
                        <a:defRPr sz="1200" b="1">
                          <a:solidFill>
                            <a:srgbClr val="FFFFFF"/>
                          </a:solidFill>
                        </a:defRPr>
                      </a:pPr>
                      <a:r>
                        <a:t>Invalid</a:t>
                      </a:r>
                    </a:p>
                  </a:txBody>
                  <a:tcPr>
                    <a:solidFill>
                      <a:srgbClr val="1F3A5F"/>
                    </a:solidFill>
                  </a:tcPr>
                </a:tc>
                <a:tc>
                  <a:txBody>
                    <a:bodyPr/>
                    <a:lstStyle/>
                    <a:p>
                      <a:pPr>
                        <a:defRPr sz="1200" b="1">
                          <a:solidFill>
                            <a:srgbClr val="FFFFFF"/>
                          </a:solidFill>
                        </a:defRPr>
                      </a:pPr>
                      <a:r>
                        <a:t>Diversity</a:t>
                      </a:r>
                    </a:p>
                  </a:txBody>
                  <a:tcPr>
                    <a:solidFill>
                      <a:srgbClr val="1F3A5F"/>
                    </a:solidFill>
                  </a:tcPr>
                </a:tc>
              </a:tr>
              <a:tr h="365760">
                <a:tc>
                  <a:txBody>
                    <a:bodyPr/>
                    <a:lstStyle/>
                    <a:p>
                      <a:pPr>
                        <a:defRPr sz="1200" b="1"/>
                      </a:pPr>
                      <a:r>
                        <a:t>A.1</a:t>
                      </a:r>
                    </a:p>
                  </a:txBody>
                  <a:tcPr/>
                </a:tc>
                <a:tc>
                  <a:txBody>
                    <a:bodyPr/>
                    <a:lstStyle/>
                    <a:p>
                      <a:pPr>
                        <a:defRPr sz="1200"/>
                      </a:pPr>
                      <a:r>
                        <a:t>+3.314</a:t>
                      </a:r>
                    </a:p>
                  </a:txBody>
                  <a:tcPr/>
                </a:tc>
                <a:tc>
                  <a:txBody>
                    <a:bodyPr/>
                    <a:lstStyle/>
                    <a:p>
                      <a:pPr>
                        <a:defRPr sz="1200"/>
                      </a:pPr>
                      <a:r>
                        <a:t>+3.106</a:t>
                      </a:r>
                    </a:p>
                  </a:txBody>
                  <a:tcPr/>
                </a:tc>
                <a:tc>
                  <a:txBody>
                    <a:bodyPr/>
                    <a:lstStyle/>
                    <a:p>
                      <a:pPr>
                        <a:defRPr sz="1200"/>
                      </a:pPr>
                      <a:r>
                        <a:t>0.75</a:t>
                      </a:r>
                    </a:p>
                  </a:txBody>
                  <a:tcPr/>
                </a:tc>
                <a:tc>
                  <a:txBody>
                    <a:bodyPr/>
                    <a:lstStyle/>
                    <a:p>
                      <a:pPr>
                        <a:defRPr sz="1200"/>
                      </a:pPr>
                      <a:r>
                        <a:t>0.92</a:t>
                      </a:r>
                    </a:p>
                  </a:txBody>
                  <a:tcPr/>
                </a:tc>
                <a:tc>
                  <a:txBody>
                    <a:bodyPr/>
                    <a:lstStyle/>
                    <a:p>
                      <a:pPr>
                        <a:defRPr sz="1200"/>
                      </a:pPr>
                      <a:r>
                        <a:t>0.00</a:t>
                      </a:r>
                    </a:p>
                  </a:txBody>
                  <a:tcPr/>
                </a:tc>
                <a:tc>
                  <a:txBody>
                    <a:bodyPr/>
                    <a:lstStyle/>
                    <a:p>
                      <a:pPr>
                        <a:defRPr sz="1200"/>
                      </a:pPr>
                      <a:r>
                        <a:t>0.407</a:t>
                      </a:r>
                    </a:p>
                  </a:txBody>
                  <a:tcPr/>
                </a:tc>
              </a:tr>
              <a:tr h="365760">
                <a:tc>
                  <a:txBody>
                    <a:bodyPr/>
                    <a:lstStyle/>
                    <a:p>
                      <a:pPr>
                        <a:defRPr sz="1200" b="1"/>
                      </a:pPr>
                      <a:r>
                        <a:t>A.2</a:t>
                      </a:r>
                    </a:p>
                  </a:txBody>
                  <a:tcPr/>
                </a:tc>
                <a:tc>
                  <a:txBody>
                    <a:bodyPr/>
                    <a:lstStyle/>
                    <a:p>
                      <a:pPr>
                        <a:defRPr sz="1200"/>
                      </a:pPr>
                      <a:r>
                        <a:t>+2.184</a:t>
                      </a:r>
                    </a:p>
                  </a:txBody>
                  <a:tcPr/>
                </a:tc>
                <a:tc>
                  <a:txBody>
                    <a:bodyPr/>
                    <a:lstStyle/>
                    <a:p>
                      <a:pPr>
                        <a:defRPr sz="1200"/>
                      </a:pPr>
                      <a:r>
                        <a:t>+1.976</a:t>
                      </a:r>
                    </a:p>
                  </a:txBody>
                  <a:tcPr/>
                </a:tc>
                <a:tc>
                  <a:txBody>
                    <a:bodyPr/>
                    <a:lstStyle/>
                    <a:p>
                      <a:pPr>
                        <a:defRPr sz="1200"/>
                      </a:pPr>
                      <a:r>
                        <a:t>0.40</a:t>
                      </a:r>
                    </a:p>
                  </a:txBody>
                  <a:tcPr/>
                </a:tc>
                <a:tc>
                  <a:txBody>
                    <a:bodyPr/>
                    <a:lstStyle/>
                    <a:p>
                      <a:pPr>
                        <a:defRPr sz="1200"/>
                      </a:pPr>
                      <a:r>
                        <a:t>1.00</a:t>
                      </a:r>
                    </a:p>
                  </a:txBody>
                  <a:tcPr/>
                </a:tc>
                <a:tc>
                  <a:txBody>
                    <a:bodyPr/>
                    <a:lstStyle/>
                    <a:p>
                      <a:pPr>
                        <a:defRPr sz="1200"/>
                      </a:pPr>
                      <a:r>
                        <a:t>0.30</a:t>
                      </a:r>
                    </a:p>
                  </a:txBody>
                  <a:tcPr/>
                </a:tc>
                <a:tc>
                  <a:txBody>
                    <a:bodyPr/>
                    <a:lstStyle/>
                    <a:p>
                      <a:pPr>
                        <a:defRPr sz="1200"/>
                      </a:pPr>
                      <a:r>
                        <a:t>0.284</a:t>
                      </a:r>
                    </a:p>
                  </a:txBody>
                  <a:tcPr/>
                </a:tc>
              </a:tr>
              <a:tr h="365760">
                <a:tc>
                  <a:txBody>
                    <a:bodyPr/>
                    <a:lstStyle/>
                    <a:p>
                      <a:pPr>
                        <a:defRPr sz="1200" b="1"/>
                      </a:pPr>
                      <a:r>
                        <a:t>B.1</a:t>
                      </a:r>
                    </a:p>
                  </a:txBody>
                  <a:tcPr/>
                </a:tc>
                <a:tc>
                  <a:txBody>
                    <a:bodyPr/>
                    <a:lstStyle/>
                    <a:p>
                      <a:pPr>
                        <a:defRPr sz="1200"/>
                      </a:pPr>
                      <a:r>
                        <a:t>+2.751</a:t>
                      </a:r>
                    </a:p>
                  </a:txBody>
                  <a:tcPr/>
                </a:tc>
                <a:tc>
                  <a:txBody>
                    <a:bodyPr/>
                    <a:lstStyle/>
                    <a:p>
                      <a:pPr>
                        <a:defRPr sz="1200"/>
                      </a:pPr>
                      <a:r>
                        <a:t>+2.543</a:t>
                      </a:r>
                    </a:p>
                  </a:txBody>
                  <a:tcPr/>
                </a:tc>
                <a:tc>
                  <a:txBody>
                    <a:bodyPr/>
                    <a:lstStyle/>
                    <a:p>
                      <a:pPr>
                        <a:defRPr sz="1200"/>
                      </a:pPr>
                      <a:r>
                        <a:t>0.27</a:t>
                      </a:r>
                    </a:p>
                  </a:txBody>
                  <a:tcPr/>
                </a:tc>
                <a:tc>
                  <a:txBody>
                    <a:bodyPr/>
                    <a:lstStyle/>
                    <a:p>
                      <a:pPr>
                        <a:defRPr sz="1200"/>
                      </a:pPr>
                      <a:r>
                        <a:t>0.89</a:t>
                      </a:r>
                    </a:p>
                  </a:txBody>
                  <a:tcPr/>
                </a:tc>
                <a:tc>
                  <a:txBody>
                    <a:bodyPr/>
                    <a:lstStyle/>
                    <a:p>
                      <a:pPr>
                        <a:defRPr sz="1200"/>
                      </a:pPr>
                      <a:r>
                        <a:t>0.18</a:t>
                      </a:r>
                    </a:p>
                  </a:txBody>
                  <a:tcPr/>
                </a:tc>
                <a:tc>
                  <a:txBody>
                    <a:bodyPr/>
                    <a:lstStyle/>
                    <a:p>
                      <a:pPr>
                        <a:defRPr sz="1200"/>
                      </a:pPr>
                      <a:r>
                        <a:t>0.200</a:t>
                      </a:r>
                    </a:p>
                  </a:txBody>
                  <a:tcPr/>
                </a:tc>
              </a:tr>
              <a:tr h="365760">
                <a:tc>
                  <a:txBody>
                    <a:bodyPr/>
                    <a:lstStyle/>
                    <a:p>
                      <a:pPr>
                        <a:defRPr sz="1200" b="1"/>
                      </a:pPr>
                      <a:r>
                        <a:t>B.2</a:t>
                      </a:r>
                    </a:p>
                  </a:txBody>
                  <a:tcPr/>
                </a:tc>
                <a:tc>
                  <a:txBody>
                    <a:bodyPr/>
                    <a:lstStyle/>
                    <a:p>
                      <a:pPr>
                        <a:defRPr sz="1200"/>
                      </a:pPr>
                      <a:r>
                        <a:t>+0.563</a:t>
                      </a:r>
                    </a:p>
                  </a:txBody>
                  <a:tcPr/>
                </a:tc>
                <a:tc>
                  <a:txBody>
                    <a:bodyPr/>
                    <a:lstStyle/>
                    <a:p>
                      <a:pPr>
                        <a:defRPr sz="1200"/>
                      </a:pPr>
                      <a:r>
                        <a:t>+0.355</a:t>
                      </a:r>
                    </a:p>
                  </a:txBody>
                  <a:tcPr/>
                </a:tc>
                <a:tc>
                  <a:txBody>
                    <a:bodyPr/>
                    <a:lstStyle/>
                    <a:p>
                      <a:pPr>
                        <a:defRPr sz="1200"/>
                      </a:pPr>
                      <a:r>
                        <a:t>0.50</a:t>
                      </a:r>
                    </a:p>
                  </a:txBody>
                  <a:tcPr/>
                </a:tc>
                <a:tc>
                  <a:txBody>
                    <a:bodyPr/>
                    <a:lstStyle/>
                    <a:p>
                      <a:pPr>
                        <a:defRPr sz="1200"/>
                      </a:pPr>
                      <a:r>
                        <a:t>0.83</a:t>
                      </a:r>
                    </a:p>
                  </a:txBody>
                  <a:tcPr/>
                </a:tc>
                <a:tc>
                  <a:txBody>
                    <a:bodyPr/>
                    <a:lstStyle/>
                    <a:p>
                      <a:pPr>
                        <a:defRPr sz="1200"/>
                      </a:pPr>
                      <a:r>
                        <a:t>0.00</a:t>
                      </a:r>
                    </a:p>
                  </a:txBody>
                  <a:tcPr/>
                </a:tc>
                <a:tc>
                  <a:txBody>
                    <a:bodyPr/>
                    <a:lstStyle/>
                    <a:p>
                      <a:pPr>
                        <a:defRPr sz="1200"/>
                      </a:pPr>
                      <a:r>
                        <a:t>0.186</a:t>
                      </a:r>
                    </a:p>
                  </a:txBody>
                  <a:tcPr/>
                </a:tc>
              </a:tr>
              <a:tr h="365760">
                <a:tc>
                  <a:txBody>
                    <a:bodyPr/>
                    <a:lstStyle/>
                    <a:p>
                      <a:pPr>
                        <a:defRPr sz="1200" b="1"/>
                      </a:pPr>
                      <a:r>
                        <a:t>C.1</a:t>
                      </a:r>
                    </a:p>
                  </a:txBody>
                  <a:tcPr/>
                </a:tc>
                <a:tc>
                  <a:txBody>
                    <a:bodyPr/>
                    <a:lstStyle/>
                    <a:p>
                      <a:pPr>
                        <a:defRPr sz="1200"/>
                      </a:pPr>
                      <a:r>
                        <a:t>+1.586</a:t>
                      </a:r>
                    </a:p>
                  </a:txBody>
                  <a:tcPr/>
                </a:tc>
                <a:tc>
                  <a:txBody>
                    <a:bodyPr/>
                    <a:lstStyle/>
                    <a:p>
                      <a:pPr>
                        <a:defRPr sz="1200"/>
                      </a:pPr>
                      <a:r>
                        <a:t>+1.378</a:t>
                      </a:r>
                    </a:p>
                  </a:txBody>
                  <a:tcPr/>
                </a:tc>
                <a:tc>
                  <a:txBody>
                    <a:bodyPr/>
                    <a:lstStyle/>
                    <a:p>
                      <a:pPr>
                        <a:defRPr sz="1200"/>
                      </a:pPr>
                      <a:r>
                        <a:t>0.40</a:t>
                      </a:r>
                    </a:p>
                  </a:txBody>
                  <a:tcPr/>
                </a:tc>
                <a:tc>
                  <a:txBody>
                    <a:bodyPr/>
                    <a:lstStyle/>
                    <a:p>
                      <a:pPr>
                        <a:defRPr sz="1200"/>
                      </a:pPr>
                      <a:r>
                        <a:t>1.00</a:t>
                      </a:r>
                    </a:p>
                  </a:txBody>
                  <a:tcPr/>
                </a:tc>
                <a:tc>
                  <a:txBody>
                    <a:bodyPr/>
                    <a:lstStyle/>
                    <a:p>
                      <a:pPr>
                        <a:defRPr sz="1200"/>
                      </a:pPr>
                      <a:r>
                        <a:t>0.00</a:t>
                      </a:r>
                    </a:p>
                  </a:txBody>
                  <a:tcPr/>
                </a:tc>
                <a:tc>
                  <a:txBody>
                    <a:bodyPr/>
                    <a:lstStyle/>
                    <a:p>
                      <a:pPr>
                        <a:defRPr sz="1200"/>
                      </a:pPr>
                      <a:r>
                        <a:t>0.232</a:t>
                      </a:r>
                    </a:p>
                  </a:txBody>
                  <a:tcPr/>
                </a:tc>
              </a:tr>
              <a:tr h="365760">
                <a:tc>
                  <a:txBody>
                    <a:bodyPr/>
                    <a:lstStyle/>
                    <a:p>
                      <a:pPr>
                        <a:defRPr sz="1200" b="1"/>
                      </a:pPr>
                      <a:r>
                        <a:t>C.2</a:t>
                      </a:r>
                    </a:p>
                  </a:txBody>
                  <a:tcPr/>
                </a:tc>
                <a:tc>
                  <a:txBody>
                    <a:bodyPr/>
                    <a:lstStyle/>
                    <a:p>
                      <a:pPr>
                        <a:defRPr sz="1200"/>
                      </a:pPr>
                      <a:r>
                        <a:t>+1.258</a:t>
                      </a:r>
                    </a:p>
                  </a:txBody>
                  <a:tcPr/>
                </a:tc>
                <a:tc>
                  <a:txBody>
                    <a:bodyPr/>
                    <a:lstStyle/>
                    <a:p>
                      <a:pPr>
                        <a:defRPr sz="1200"/>
                      </a:pPr>
                      <a:r>
                        <a:t>+1.050</a:t>
                      </a:r>
                    </a:p>
                  </a:txBody>
                  <a:tcPr/>
                </a:tc>
                <a:tc>
                  <a:txBody>
                    <a:bodyPr/>
                    <a:lstStyle/>
                    <a:p>
                      <a:pPr>
                        <a:defRPr sz="1200"/>
                      </a:pPr>
                      <a:r>
                        <a:t>0.50</a:t>
                      </a:r>
                    </a:p>
                  </a:txBody>
                  <a:tcPr/>
                </a:tc>
                <a:tc>
                  <a:txBody>
                    <a:bodyPr/>
                    <a:lstStyle/>
                    <a:p>
                      <a:pPr>
                        <a:defRPr sz="1200"/>
                      </a:pPr>
                      <a:r>
                        <a:t>0.90</a:t>
                      </a:r>
                    </a:p>
                  </a:txBody>
                  <a:tcPr/>
                </a:tc>
                <a:tc>
                  <a:txBody>
                    <a:bodyPr/>
                    <a:lstStyle/>
                    <a:p>
                      <a:pPr>
                        <a:defRPr sz="1200"/>
                      </a:pPr>
                      <a:r>
                        <a:t>0.00</a:t>
                      </a:r>
                    </a:p>
                  </a:txBody>
                  <a:tcPr/>
                </a:tc>
                <a:tc>
                  <a:txBody>
                    <a:bodyPr/>
                    <a:lstStyle/>
                    <a:p>
                      <a:pPr>
                        <a:defRPr sz="1200"/>
                      </a:pPr>
                      <a:r>
                        <a:t>0.243</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A1: headline finding -- the LLM exploits the oracle</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Unconstrained (Variant A), the LLM found ESOL has no chain-length penalty and no ceiling</a:t>
            </a:r>
          </a:p>
          <a:p>
            <a:pPr>
              <a:spcAft>
                <a:spcPts val="500"/>
              </a:spcAft>
              <a:defRPr sz="1800" b="0"/>
            </a:pPr>
            <a:r>
              <a:t>•  It added -CH(OH)- units forever (polyol chains), +0.28 LogS each, up to dodecitol +3.31 (chemically absurd)</a:t>
            </a:r>
          </a:p>
          <a:p>
            <a:pPr>
              <a:spcAft>
                <a:spcPts val="500"/>
              </a:spcAft>
              <a:defRPr sz="1800" b="0"/>
            </a:pPr>
            <a:r>
              <a:t>•  Replicated across Gemini, DeepSeek, ChatGPT -&gt; a property of ESOL, not one model</a:t>
            </a:r>
          </a:p>
          <a:p>
            <a:pPr>
              <a:spcAft>
                <a:spcPts val="500"/>
              </a:spcAft>
              <a:defRPr sz="1800" b="1">
                <a:solidFill>
                  <a:srgbClr val="1F3A5F"/>
                </a:solidFill>
              </a:defRPr>
            </a:pPr>
            <a:r>
              <a:t>•  Each prompt closed one exploit, the LLM found the next:</a:t>
            </a:r>
          </a:p>
          <a:p>
            <a:pPr lvl="1">
              <a:spcAft>
                <a:spcPts val="500"/>
              </a:spcAft>
              <a:defRPr sz="1500" b="0">
                <a:solidFill>
                  <a:srgbClr val="555555"/>
                </a:solidFill>
              </a:defRPr>
            </a:pPr>
            <a:r>
              <a:t>   –  A chain -&gt; B salt-mixture -&gt; C (hard rules) forced real chemistry</a:t>
            </a:r>
          </a:p>
          <a:p>
            <a:pPr>
              <a:spcAft>
                <a:spcPts val="500"/>
              </a:spcAft>
              <a:defRPr sz="1800" b="1">
                <a:solidFill>
                  <a:srgbClr val="1F3A5F"/>
                </a:solidFill>
              </a:defRPr>
            </a:pPr>
            <a:r>
              <a:t>•  Takeaway: objective and constraint design matter as much as the LLM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A1 Figure: convergence.png</a:t>
            </a:r>
          </a:p>
        </p:txBody>
      </p:sp>
      <p:pic>
        <p:nvPicPr>
          <p:cNvPr id="3" name="Picture 2" descr="convergence.png"/>
          <p:cNvPicPr>
            <a:picLocks noChangeAspect="1"/>
          </p:cNvPicPr>
          <p:nvPr/>
        </p:nvPicPr>
        <p:blipFill>
          <a:blip r:embed="rId2"/>
          <a:stretch>
            <a:fillRect/>
          </a:stretch>
        </p:blipFill>
        <p:spPr>
          <a:xfrm>
            <a:off x="457200" y="1097280"/>
            <a:ext cx="8193024"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Best-so-far LogS vs iteration, 6 runs</a:t>
            </a:r>
          </a:p>
          <a:p>
            <a:pPr lvl="1">
              <a:spcAft>
                <a:spcPts val="500"/>
              </a:spcAft>
              <a:defRPr sz="1500" b="0">
                <a:solidFill>
                  <a:srgbClr val="555555"/>
                </a:solidFill>
              </a:defRPr>
            </a:pPr>
            <a:r>
              <a:t>   –  A (red/orange): climbs high via the unbounded polyol exploit</a:t>
            </a:r>
          </a:p>
          <a:p>
            <a:pPr lvl="1">
              <a:spcAft>
                <a:spcPts val="500"/>
              </a:spcAft>
              <a:defRPr sz="1500" b="0">
                <a:solidFill>
                  <a:srgbClr val="555555"/>
                </a:solidFill>
              </a:defRPr>
            </a:pPr>
            <a:r>
              <a:t>   –  B (blue/purple): runs DISAGREE, B1 late spike (salt), B2 honest plateau +0.56</a:t>
            </a:r>
          </a:p>
          <a:p>
            <a:pPr lvl="1">
              <a:spcAft>
                <a:spcPts val="500"/>
              </a:spcAft>
              <a:defRPr sz="1500" b="0">
                <a:solidFill>
                  <a:srgbClr val="555555"/>
                </a:solidFill>
              </a:defRPr>
            </a:pPr>
            <a:r>
              <a:t>   –  C (green/brown): smooth legit climbs, no spikes</a:t>
            </a:r>
          </a:p>
          <a:p>
            <a:pPr>
              <a:spcAft>
                <a:spcPts val="500"/>
              </a:spcAft>
              <a:defRPr sz="1800" b="1">
                <a:solidFill>
                  <a:srgbClr val="1F3A5F"/>
                </a:solidFill>
              </a:defRPr>
            </a:pPr>
            <a:r>
              <a:t>•  Take: unconstrained = exploit; soft ban = unreliable; hard rules = consistent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A1 Figures: behavior metrics</a:t>
            </a:r>
          </a:p>
        </p:txBody>
      </p:sp>
      <p:pic>
        <p:nvPicPr>
          <p:cNvPr id="3" name="Picture 2" descr="invalid_rate.png"/>
          <p:cNvPicPr>
            <a:picLocks noChangeAspect="1"/>
          </p:cNvPicPr>
          <p:nvPr/>
        </p:nvPicPr>
        <p:blipFill>
          <a:blip r:embed="rId2"/>
          <a:stretch>
            <a:fillRect/>
          </a:stretch>
        </p:blipFill>
        <p:spPr>
          <a:xfrm>
            <a:off x="457200" y="1097280"/>
            <a:ext cx="7680960"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invalid_rate.png (shown): A 15%, B 9.1% (path-dependent), C 0%</a:t>
            </a:r>
          </a:p>
          <a:p>
            <a:pPr lvl="1">
              <a:spcAft>
                <a:spcPts val="500"/>
              </a:spcAft>
              <a:defRPr sz="1500" b="0">
                <a:solidFill>
                  <a:srgbClr val="555555"/>
                </a:solidFill>
              </a:defRPr>
            </a:pPr>
            <a:r>
              <a:t>   –  Strict rules also make the LLM more reliable</a:t>
            </a:r>
          </a:p>
          <a:p>
            <a:pPr>
              <a:spcAft>
                <a:spcPts val="500"/>
              </a:spcAft>
              <a:defRPr sz="1800" b="1">
                <a:solidFill>
                  <a:srgbClr val="1F3A5F"/>
                </a:solidFill>
              </a:defRPr>
            </a:pPr>
            <a:r>
              <a:t>•  diversity.png: A least diverse (0.345, repeats the trick); B/C more diverse</a:t>
            </a:r>
          </a:p>
          <a:p>
            <a:pPr lvl="1">
              <a:spcAft>
                <a:spcPts val="500"/>
              </a:spcAft>
              <a:defRPr sz="1500" b="0">
                <a:solidFill>
                  <a:srgbClr val="555555"/>
                </a:solidFill>
              </a:defRPr>
            </a:pPr>
            <a:r>
              <a:t>   –  Removing the easy exploit forces exploration</a:t>
            </a:r>
          </a:p>
          <a:p>
            <a:pPr>
              <a:spcAft>
                <a:spcPts val="500"/>
              </a:spcAft>
              <a:defRPr sz="1800" b="1">
                <a:solidFill>
                  <a:srgbClr val="1F3A5F"/>
                </a:solidFill>
              </a:defRPr>
            </a:pPr>
            <a:r>
              <a:t>•  comparison.png: all 3 variants beat random (+0.41); the +17.14 ceiling is an ESOL illusion (use +2.14 on the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468880"/>
            <a:ext cx="12191695"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9FC5E8"/>
                </a:solidFill>
              </a:defRPr>
            </a:pPr>
            <a:r>
              <a:t>Approach 2</a:t>
            </a:r>
          </a:p>
          <a:p>
            <a:pPr algn="ctr">
              <a:spcAft>
                <a:spcPts val="400"/>
              </a:spcAft>
              <a:defRPr sz="3400" b="1">
                <a:solidFill>
                  <a:srgbClr val="FFFFFF"/>
                </a:solidFill>
              </a:defRPr>
            </a:pPr>
            <a:r>
              <a:t>BO with the LLM as a Regressor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A2: What and Why</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WHAT: the LLM is a guesser. Fixed pool of 30 molecules; it predicts LogS (mu) + confidence (1-10) for each</a:t>
            </a:r>
          </a:p>
          <a:p>
            <a:pPr>
              <a:spcAft>
                <a:spcPts val="500"/>
              </a:spcAft>
              <a:defRPr sz="1800" b="0"/>
            </a:pPr>
            <a:r>
              <a:t>•  The LLM does NOT choose what to test. An acquisition function does</a:t>
            </a:r>
          </a:p>
          <a:p>
            <a:pPr>
              <a:spcAft>
                <a:spcPts val="500"/>
              </a:spcAft>
              <a:defRPr sz="1800" b="0"/>
            </a:pPr>
            <a:r>
              <a:t>•  WHY: A1 showed the LLM can invent but exploit. A2 asks a narrower question: can it put a reliable number on solubility?</a:t>
            </a:r>
          </a:p>
          <a:p>
            <a:pPr>
              <a:spcAft>
                <a:spcPts val="500"/>
              </a:spcAft>
              <a:defRPr sz="1800" b="1">
                <a:solidFill>
                  <a:srgbClr val="1F3A5F"/>
                </a:solidFill>
              </a:defRPr>
            </a:pPr>
            <a:r>
              <a:t>•  HOW the loop:</a:t>
            </a:r>
          </a:p>
          <a:p>
            <a:pPr lvl="1">
              <a:spcAft>
                <a:spcPts val="500"/>
              </a:spcAft>
              <a:defRPr sz="1500" b="0">
                <a:solidFill>
                  <a:srgbClr val="555555"/>
                </a:solidFill>
              </a:defRPr>
            </a:pPr>
            <a:r>
              <a:t>   –  LLM predicts all 30 -&gt; confidence mapped to uncertainty sigma</a:t>
            </a:r>
          </a:p>
          <a:p>
            <a:pPr lvl="1">
              <a:spcAft>
                <a:spcPts val="500"/>
              </a:spcAft>
              <a:defRPr sz="1500" b="0">
                <a:solidFill>
                  <a:srgbClr val="555555"/>
                </a:solidFill>
              </a:defRPr>
            </a:pPr>
            <a:r>
              <a:t>   –  EI or UCB scores each and picks ONE -&gt; ESOL scores it -&gt; repeat</a:t>
            </a:r>
          </a:p>
          <a:p>
            <a:pPr lvl="1">
              <a:spcAft>
                <a:spcPts val="500"/>
              </a:spcAft>
              <a:defRPr sz="1500" b="0">
                <a:solidFill>
                  <a:srgbClr val="555555"/>
                </a:solidFill>
              </a:defRPr>
            </a:pPr>
            <a:r>
              <a:t>   –  EI = expected gain over best + uncertainty bonus; UCB = mu + kappa*sigma</a:t>
            </a:r>
          </a:p>
          <a:p>
            <a:pPr>
              <a:spcAft>
                <a:spcPts val="500"/>
              </a:spcAft>
              <a:defRPr sz="1800" b="0"/>
            </a:pPr>
            <a:r>
              <a:t>•  WHY EI and UCB: the two standard acquisition functions; everything else held fixed</a:t>
            </a:r>
          </a:p>
          <a:p>
            <a:pPr>
              <a:spcAft>
                <a:spcPts val="500"/>
              </a:spcAft>
              <a:defRPr sz="1800" b="1">
                <a:solidFill>
                  <a:srgbClr val="1F3A5F"/>
                </a:solidFill>
              </a:defRPr>
            </a:pPr>
            <a:r>
              <a:t>•  CRITICAL: the random pool's best was only +0.21; 1 of 30 beat the seed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A2: regression accuracy (from analysis2.py)</a:t>
            </a:r>
          </a:p>
        </p:txBody>
      </p:sp>
      <p:graphicFrame>
        <p:nvGraphicFramePr>
          <p:cNvPr id="3" name="Table 2"/>
          <p:cNvGraphicFramePr>
            <a:graphicFrameLocks noGrp="1"/>
          </p:cNvGraphicFramePr>
          <p:nvPr/>
        </p:nvGraphicFramePr>
        <p:xfrm>
          <a:off x="457200" y="1097280"/>
          <a:ext cx="11247120" cy="2926080"/>
        </p:xfrm>
        <a:graphic>
          <a:graphicData uri="http://schemas.openxmlformats.org/drawingml/2006/table">
            <a:tbl>
              <a:tblPr firstRow="1" bandRow="1">
                <a:tableStyleId>{5C22544A-7EE6-4342-B048-85BDC9FD1C3A}</a:tableStyleId>
              </a:tblPr>
              <a:tblGrid>
                <a:gridCol w="3200400"/>
                <a:gridCol w="1828800"/>
                <a:gridCol w="6217920"/>
              </a:tblGrid>
              <a:tr h="365760">
                <a:tc>
                  <a:txBody>
                    <a:bodyPr/>
                    <a:lstStyle/>
                    <a:p>
                      <a:pPr>
                        <a:defRPr sz="1400" b="1">
                          <a:solidFill>
                            <a:srgbClr val="FFFFFF"/>
                          </a:solidFill>
                        </a:defRPr>
                      </a:pPr>
                      <a:r>
                        <a:t>Metric</a:t>
                      </a:r>
                    </a:p>
                  </a:txBody>
                  <a:tcPr>
                    <a:solidFill>
                      <a:srgbClr val="1F3A5F"/>
                    </a:solidFill>
                  </a:tcPr>
                </a:tc>
                <a:tc>
                  <a:txBody>
                    <a:bodyPr/>
                    <a:lstStyle/>
                    <a:p>
                      <a:pPr>
                        <a:defRPr sz="1400" b="1">
                          <a:solidFill>
                            <a:srgbClr val="FFFFFF"/>
                          </a:solidFill>
                        </a:defRPr>
                      </a:pPr>
                      <a:r>
                        <a:t>Value</a:t>
                      </a:r>
                    </a:p>
                  </a:txBody>
                  <a:tcPr>
                    <a:solidFill>
                      <a:srgbClr val="1F3A5F"/>
                    </a:solidFill>
                  </a:tcPr>
                </a:tc>
                <a:tc>
                  <a:txBody>
                    <a:bodyPr/>
                    <a:lstStyle/>
                    <a:p>
                      <a:pPr>
                        <a:defRPr sz="1400" b="1">
                          <a:solidFill>
                            <a:srgbClr val="FFFFFF"/>
                          </a:solidFill>
                        </a:defRPr>
                      </a:pPr>
                      <a:r>
                        <a:t>Reading</a:t>
                      </a:r>
                    </a:p>
                  </a:txBody>
                  <a:tcPr>
                    <a:solidFill>
                      <a:srgbClr val="1F3A5F"/>
                    </a:solidFill>
                  </a:tcPr>
                </a:tc>
              </a:tr>
              <a:tr h="365760">
                <a:tc>
                  <a:txBody>
                    <a:bodyPr/>
                    <a:lstStyle/>
                    <a:p>
                      <a:pPr>
                        <a:defRPr sz="1400" b="1"/>
                      </a:pPr>
                      <a:r>
                        <a:t>MAE</a:t>
                      </a:r>
                    </a:p>
                  </a:txBody>
                  <a:tcPr/>
                </a:tc>
                <a:tc>
                  <a:txBody>
                    <a:bodyPr/>
                    <a:lstStyle/>
                    <a:p>
                      <a:pPr>
                        <a:defRPr sz="1400"/>
                      </a:pPr>
                      <a:r>
                        <a:t>0.82</a:t>
                      </a:r>
                    </a:p>
                  </a:txBody>
                  <a:tcPr/>
                </a:tc>
                <a:tc>
                  <a:txBody>
                    <a:bodyPr/>
                    <a:lstStyle/>
                    <a:p>
                      <a:pPr>
                        <a:defRPr sz="1400"/>
                      </a:pPr>
                      <a:r>
                        <a:t>Large miss on this scale</a:t>
                      </a:r>
                    </a:p>
                  </a:txBody>
                  <a:tcPr/>
                </a:tc>
              </a:tr>
              <a:tr h="365760">
                <a:tc>
                  <a:txBody>
                    <a:bodyPr/>
                    <a:lstStyle/>
                    <a:p>
                      <a:pPr>
                        <a:defRPr sz="1400" b="1"/>
                      </a:pPr>
                      <a:r>
                        <a:t>RMSE</a:t>
                      </a:r>
                    </a:p>
                  </a:txBody>
                  <a:tcPr/>
                </a:tc>
                <a:tc>
                  <a:txBody>
                    <a:bodyPr/>
                    <a:lstStyle/>
                    <a:p>
                      <a:pPr>
                        <a:defRPr sz="1400"/>
                      </a:pPr>
                      <a:r>
                        <a:t>1.13</a:t>
                      </a:r>
                    </a:p>
                  </a:txBody>
                  <a:tcPr/>
                </a:tc>
                <a:tc>
                  <a:txBody>
                    <a:bodyPr/>
                    <a:lstStyle/>
                    <a:p>
                      <a:pPr>
                        <a:defRPr sz="1400"/>
                      </a:pPr>
                      <a:r>
                        <a:t>Big misses present</a:t>
                      </a:r>
                    </a:p>
                  </a:txBody>
                  <a:tcPr/>
                </a:tc>
              </a:tr>
              <a:tr h="365760">
                <a:tc>
                  <a:txBody>
                    <a:bodyPr/>
                    <a:lstStyle/>
                    <a:p>
                      <a:pPr>
                        <a:defRPr sz="1400" b="1"/>
                      </a:pPr>
                      <a:r>
                        <a:t>Bias</a:t>
                      </a:r>
                    </a:p>
                  </a:txBody>
                  <a:tcPr/>
                </a:tc>
                <a:tc>
                  <a:txBody>
                    <a:bodyPr/>
                    <a:lstStyle/>
                    <a:p>
                      <a:pPr>
                        <a:defRPr sz="1400"/>
                      </a:pPr>
                      <a:r>
                        <a:t>+0.73</a:t>
                      </a:r>
                    </a:p>
                  </a:txBody>
                  <a:tcPr/>
                </a:tc>
                <a:tc>
                  <a:txBody>
                    <a:bodyPr/>
                    <a:lstStyle/>
                    <a:p>
                      <a:pPr>
                        <a:defRPr sz="1400"/>
                      </a:pPr>
                      <a:r>
                        <a:t>Guesses too HIGH (optimist)</a:t>
                      </a:r>
                    </a:p>
                  </a:txBody>
                  <a:tcPr/>
                </a:tc>
              </a:tr>
              <a:tr h="365760">
                <a:tc>
                  <a:txBody>
                    <a:bodyPr/>
                    <a:lstStyle/>
                    <a:p>
                      <a:pPr>
                        <a:defRPr sz="1400" b="1"/>
                      </a:pPr>
                      <a:r>
                        <a:t>Pearson r</a:t>
                      </a:r>
                    </a:p>
                  </a:txBody>
                  <a:tcPr/>
                </a:tc>
                <a:tc>
                  <a:txBody>
                    <a:bodyPr/>
                    <a:lstStyle/>
                    <a:p>
                      <a:pPr>
                        <a:defRPr sz="1400"/>
                      </a:pPr>
                      <a:r>
                        <a:t>+0.46</a:t>
                      </a:r>
                    </a:p>
                  </a:txBody>
                  <a:tcPr/>
                </a:tc>
                <a:tc>
                  <a:txBody>
                    <a:bodyPr/>
                    <a:lstStyle/>
                    <a:p>
                      <a:pPr>
                        <a:defRPr sz="1400"/>
                      </a:pPr>
                      <a:r>
                        <a:t>Weak-moderate; some signal</a:t>
                      </a:r>
                    </a:p>
                  </a:txBody>
                  <a:tcPr/>
                </a:tc>
              </a:tr>
              <a:tr h="365760">
                <a:tc>
                  <a:txBody>
                    <a:bodyPr/>
                    <a:lstStyle/>
                    <a:p>
                      <a:pPr>
                        <a:defRPr sz="1400" b="1"/>
                      </a:pPr>
                      <a:r>
                        <a:t>R squared</a:t>
                      </a:r>
                    </a:p>
                  </a:txBody>
                  <a:tcPr/>
                </a:tc>
                <a:tc>
                  <a:txBody>
                    <a:bodyPr/>
                    <a:lstStyle/>
                    <a:p>
                      <a:pPr>
                        <a:defRPr sz="1400"/>
                      </a:pPr>
                      <a:r>
                        <a:t>-1.25</a:t>
                      </a:r>
                    </a:p>
                  </a:txBody>
                  <a:tcPr/>
                </a:tc>
                <a:tc>
                  <a:txBody>
                    <a:bodyPr/>
                    <a:lstStyle/>
                    <a:p>
                      <a:pPr>
                        <a:defRPr sz="1400"/>
                      </a:pPr>
                      <a:r>
                        <a:t>WORSE than guessing the mean</a:t>
                      </a:r>
                    </a:p>
                  </a:txBody>
                  <a:tcPr/>
                </a:tc>
              </a:tr>
              <a:tr h="365760">
                <a:tc>
                  <a:txBody>
                    <a:bodyPr/>
                    <a:lstStyle/>
                    <a:p>
                      <a:pPr>
                        <a:defRPr sz="1400" b="1"/>
                      </a:pPr>
                      <a:r>
                        <a:t>Sign acc vs seed</a:t>
                      </a:r>
                    </a:p>
                  </a:txBody>
                  <a:tcPr/>
                </a:tc>
                <a:tc>
                  <a:txBody>
                    <a:bodyPr/>
                    <a:lstStyle/>
                    <a:p>
                      <a:pPr>
                        <a:defRPr sz="1400"/>
                      </a:pPr>
                      <a:r>
                        <a:t>0.78</a:t>
                      </a:r>
                    </a:p>
                  </a:txBody>
                  <a:tcPr/>
                </a:tc>
                <a:tc>
                  <a:txBody>
                    <a:bodyPr/>
                    <a:lstStyle/>
                    <a:p>
                      <a:pPr>
                        <a:defRPr sz="1400"/>
                      </a:pPr>
                      <a:r>
                        <a:t>Direction usually right</a:t>
                      </a:r>
                    </a:p>
                  </a:txBody>
                  <a:tcPr/>
                </a:tc>
              </a:tr>
              <a:tr h="365760">
                <a:tc>
                  <a:txBody>
                    <a:bodyPr/>
                    <a:lstStyle/>
                    <a:p>
                      <a:pPr>
                        <a:defRPr sz="1400" b="1"/>
                      </a:pPr>
                      <a:r>
                        <a:t>Confidence vs error</a:t>
                      </a:r>
                    </a:p>
                  </a:txBody>
                  <a:tcPr/>
                </a:tc>
                <a:tc>
                  <a:txBody>
                    <a:bodyPr/>
                    <a:lstStyle/>
                    <a:p>
                      <a:pPr>
                        <a:defRPr sz="1400"/>
                      </a:pPr>
                      <a:r>
                        <a:t>-0.0007</a:t>
                      </a:r>
                    </a:p>
                  </a:txBody>
                  <a:tcPr/>
                </a:tc>
                <a:tc>
                  <a:txBody>
                    <a:bodyPr/>
                    <a:lstStyle/>
                    <a:p>
                      <a:pPr>
                        <a:defRPr sz="1400"/>
                      </a:pPr>
                      <a:r>
                        <a:t>Confidence is meaningless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A2 Figure: calibration2.png (key figure)</a:t>
            </a:r>
          </a:p>
        </p:txBody>
      </p:sp>
      <p:pic>
        <p:nvPicPr>
          <p:cNvPr id="3" name="Picture 2" descr="calibration2.png"/>
          <p:cNvPicPr>
            <a:picLocks noChangeAspect="1"/>
          </p:cNvPicPr>
          <p:nvPr/>
        </p:nvPicPr>
        <p:blipFill>
          <a:blip r:embed="rId2"/>
          <a:stretch>
            <a:fillRect/>
          </a:stretch>
        </p:blipFill>
        <p:spPr>
          <a:xfrm>
            <a:off x="457200" y="1097280"/>
            <a:ext cx="5120640"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LLM prediction mu vs true ESOL LogS; dashed = perfect</a:t>
            </a:r>
          </a:p>
          <a:p>
            <a:pPr lvl="1">
              <a:spcAft>
                <a:spcPts val="500"/>
              </a:spcAft>
              <a:defRPr sz="1500" b="0">
                <a:solidFill>
                  <a:srgbClr val="555555"/>
                </a:solidFill>
              </a:defRPr>
            </a:pPr>
            <a:r>
              <a:t>   –  Dots scatter widely, most ABOVE the line (+0.73 bias)</a:t>
            </a:r>
          </a:p>
          <a:p>
            <a:pPr lvl="1">
              <a:spcAft>
                <a:spcPts val="500"/>
              </a:spcAft>
              <a:defRPr sz="1500" b="0">
                <a:solidFill>
                  <a:srgbClr val="555555"/>
                </a:solidFill>
              </a:defRPr>
            </a:pPr>
            <a:r>
              <a:t>   –  Loose upward drift = weak +0.46 correlation</a:t>
            </a:r>
          </a:p>
          <a:p>
            <a:pPr lvl="1">
              <a:spcAft>
                <a:spcPts val="500"/>
              </a:spcAft>
              <a:defRPr sz="1500" b="0">
                <a:solidFill>
                  <a:srgbClr val="555555"/>
                </a:solidFill>
              </a:defRPr>
            </a:pPr>
            <a:r>
              <a:t>   –  Worst: predicted +2.5 for a true -0.28</a:t>
            </a:r>
          </a:p>
          <a:p>
            <a:pPr>
              <a:spcAft>
                <a:spcPts val="500"/>
              </a:spcAft>
              <a:defRPr sz="1800" b="1">
                <a:solidFill>
                  <a:srgbClr val="1F3A5F"/>
                </a:solidFill>
              </a:defRPr>
            </a:pPr>
            <a:r>
              <a:t>•  Take: off-the-shelf LLM is a weak, over-optimistic numeric predictor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A2 Figures: convergence and confidence</a:t>
            </a:r>
          </a:p>
        </p:txBody>
      </p:sp>
      <p:pic>
        <p:nvPicPr>
          <p:cNvPr id="3" name="Picture 2" descr="convergence2.png"/>
          <p:cNvPicPr>
            <a:picLocks noChangeAspect="1"/>
          </p:cNvPicPr>
          <p:nvPr/>
        </p:nvPicPr>
        <p:blipFill>
          <a:blip r:embed="rId2"/>
          <a:stretch>
            <a:fillRect/>
          </a:stretch>
        </p:blipFill>
        <p:spPr>
          <a:xfrm>
            <a:off x="457200" y="1097280"/>
            <a:ext cx="8193024"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convergence2.png (shown): y-axis spans only +0.208 to +0.210, a sliver</a:t>
            </a:r>
          </a:p>
          <a:p>
            <a:pPr lvl="1">
              <a:spcAft>
                <a:spcPts val="500"/>
              </a:spcAft>
              <a:defRPr sz="1500" b="0">
                <a:solidFill>
                  <a:srgbClr val="555555"/>
                </a:solidFill>
              </a:defRPr>
            </a:pPr>
            <a:r>
              <a:t>   –  All runs hit the pool ceiling in 3-4 iters, then flat (nothing better exists)</a:t>
            </a:r>
          </a:p>
          <a:p>
            <a:pPr>
              <a:spcAft>
                <a:spcPts val="500"/>
              </a:spcAft>
              <a:defRPr sz="1800" b="1">
                <a:solidFill>
                  <a:srgbClr val="1F3A5F"/>
                </a:solidFill>
              </a:defRPr>
            </a:pPr>
            <a:r>
              <a:t>•  confidence_error2.png: mean-error line is flat, corr -0.0007</a:t>
            </a:r>
          </a:p>
          <a:p>
            <a:pPr lvl="1">
              <a:spcAft>
                <a:spcPts val="500"/>
              </a:spcAft>
              <a:defRPr sz="1500" b="0">
                <a:solidFill>
                  <a:srgbClr val="555555"/>
                </a:solidFill>
              </a:defRPr>
            </a:pPr>
            <a:r>
              <a:t>   –  LLM never used confidence below 5, even when wrong</a:t>
            </a:r>
          </a:p>
          <a:p>
            <a:pPr>
              <a:spcAft>
                <a:spcPts val="500"/>
              </a:spcAft>
              <a:defRPr sz="1800" b="1">
                <a:solidFill>
                  <a:srgbClr val="1F3A5F"/>
                </a:solidFill>
              </a:defRPr>
            </a:pPr>
            <a:r>
              <a:t>•  comparison2.png: random +0.41 'beats' EI/UCB +0.21 ONLY because random draws from all 9,982; unfair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468880"/>
            <a:ext cx="12191695"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9FC5E8"/>
                </a:solidFill>
              </a:defRPr>
            </a:pPr>
            <a:r>
              <a:t>Approach 3</a:t>
            </a:r>
          </a:p>
          <a:p>
            <a:pPr algn="ctr">
              <a:spcAft>
                <a:spcPts val="400"/>
              </a:spcAft>
              <a:defRPr sz="3400" b="1">
                <a:solidFill>
                  <a:srgbClr val="FFFFFF"/>
                </a:solidFill>
              </a:defRPr>
            </a:pPr>
            <a:r>
              <a:t>Preferential BO with the LLM as a Ranker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A3: What and Why</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WHAT: the LLM never gives a number. It only judges duels: 'is A or B more soluble?'</a:t>
            </a:r>
          </a:p>
          <a:p>
            <a:pPr>
              <a:spcAft>
                <a:spcPts val="500"/>
              </a:spcAft>
              <a:defRPr sz="1800" b="0"/>
            </a:pPr>
            <a:r>
              <a:t>•  Many duels -&gt; a ranking -&gt; an acquisition picks the next molecule to ESOL-score</a:t>
            </a:r>
          </a:p>
          <a:p>
            <a:pPr>
              <a:spcAft>
                <a:spcPts val="500"/>
              </a:spcAft>
              <a:defRPr sz="1800" b="0"/>
            </a:pPr>
            <a:r>
              <a:t>•  WHY: A2 showed the LLM is a poor regressor, but LLMs compare better than they predict. Test that hypothesis</a:t>
            </a:r>
          </a:p>
          <a:p>
            <a:pPr>
              <a:spcAft>
                <a:spcPts val="500"/>
              </a:spcAft>
              <a:defRPr sz="1800" b="1">
                <a:solidFill>
                  <a:srgbClr val="1F3A5F"/>
                </a:solidFill>
              </a:defRPr>
            </a:pPr>
            <a:r>
              <a:t>•  HOW the loop:</a:t>
            </a:r>
          </a:p>
          <a:p>
            <a:pPr lvl="1">
              <a:spcAft>
                <a:spcPts val="500"/>
              </a:spcAft>
              <a:defRPr sz="1500" b="0">
                <a:solidFill>
                  <a:srgbClr val="555555"/>
                </a:solidFill>
              </a:defRPr>
            </a:pPr>
            <a:r>
              <a:t>   –  Select ~25 informative duels -&gt; LLM answers A/B as JSON</a:t>
            </a:r>
          </a:p>
          <a:p>
            <a:pPr lvl="1">
              <a:spcAft>
                <a:spcPts val="500"/>
              </a:spcAft>
              <a:defRPr sz="1500" b="0">
                <a:solidFill>
                  <a:srgbClr val="555555"/>
                </a:solidFill>
              </a:defRPr>
            </a:pPr>
            <a:r>
              <a:t>   –  Bradley-Terry fit: P(i beats j)=sigmoid(u_i-u_j), gives utility + uncertainty</a:t>
            </a:r>
          </a:p>
          <a:p>
            <a:pPr lvl="1">
              <a:spcAft>
                <a:spcPts val="500"/>
              </a:spcAft>
              <a:defRPr sz="1500" b="0">
                <a:solidFill>
                  <a:srgbClr val="555555"/>
                </a:solidFill>
              </a:defRPr>
            </a:pPr>
            <a:r>
              <a:t>   –  UCB on utility picks one -&gt; ESOL scores it -&gt; repeat</a:t>
            </a:r>
          </a:p>
          <a:p>
            <a:pPr>
              <a:spcAft>
                <a:spcPts val="500"/>
              </a:spcAft>
              <a:defRPr sz="1800" b="1">
                <a:solidFill>
                  <a:srgbClr val="1F3A5F"/>
                </a:solidFill>
              </a:defRPr>
            </a:pPr>
            <a:r>
              <a:t>•  Pool STRATIFIED by ESOL -&gt; real ceiling +1.14 (vs A2's dead +0.21)</a:t>
            </a:r>
          </a:p>
          <a:p>
            <a:pPr>
              <a:spcAft>
                <a:spcPts val="500"/>
              </a:spcAft>
              <a:defRPr sz="1800" b="1">
                <a:solidFill>
                  <a:srgbClr val="1F3A5F"/>
                </a:solidFill>
              </a:defRPr>
            </a:pPr>
            <a:r>
              <a:t>•  Validated with an --auto ESOL oracle + 26 unit tests BEFORE any LLM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A3: ranking accuracy + outcome (from analysis3.py)</a:t>
            </a:r>
          </a:p>
        </p:txBody>
      </p:sp>
      <p:graphicFrame>
        <p:nvGraphicFramePr>
          <p:cNvPr id="3" name="Table 2"/>
          <p:cNvGraphicFramePr>
            <a:graphicFrameLocks noGrp="1"/>
          </p:cNvGraphicFramePr>
          <p:nvPr/>
        </p:nvGraphicFramePr>
        <p:xfrm>
          <a:off x="457200" y="1097280"/>
          <a:ext cx="11247120" cy="1097280"/>
        </p:xfrm>
        <a:graphic>
          <a:graphicData uri="http://schemas.openxmlformats.org/drawingml/2006/table">
            <a:tbl>
              <a:tblPr firstRow="1" bandRow="1">
                <a:tableStyleId>{5C22544A-7EE6-4342-B048-85BDC9FD1C3A}</a:tableStyleId>
              </a:tblPr>
              <a:tblGrid>
                <a:gridCol w="822960"/>
                <a:gridCol w="1463040"/>
                <a:gridCol w="1280160"/>
                <a:gridCol w="1645920"/>
                <a:gridCol w="1463040"/>
                <a:gridCol w="2011680"/>
                <a:gridCol w="1371600"/>
                <a:gridCol w="1188720"/>
              </a:tblGrid>
              <a:tr h="365760">
                <a:tc>
                  <a:txBody>
                    <a:bodyPr/>
                    <a:lstStyle/>
                    <a:p>
                      <a:pPr>
                        <a:defRPr sz="1300" b="1">
                          <a:solidFill>
                            <a:srgbClr val="FFFFFF"/>
                          </a:solidFill>
                        </a:defRPr>
                      </a:pPr>
                      <a:r>
                        <a:t>Run</a:t>
                      </a:r>
                    </a:p>
                  </a:txBody>
                  <a:tcPr>
                    <a:solidFill>
                      <a:srgbClr val="1F3A5F"/>
                    </a:solidFill>
                  </a:tcPr>
                </a:tc>
                <a:tc>
                  <a:txBody>
                    <a:bodyPr/>
                    <a:lstStyle/>
                    <a:p>
                      <a:pPr>
                        <a:defRPr sz="1300" b="1">
                          <a:solidFill>
                            <a:srgbClr val="FFFFFF"/>
                          </a:solidFill>
                        </a:defRPr>
                      </a:pPr>
                      <a:r>
                        <a:t>Best</a:t>
                      </a:r>
                    </a:p>
                  </a:txBody>
                  <a:tcPr>
                    <a:solidFill>
                      <a:srgbClr val="1F3A5F"/>
                    </a:solidFill>
                  </a:tcPr>
                </a:tc>
                <a:tc>
                  <a:txBody>
                    <a:bodyPr/>
                    <a:lstStyle/>
                    <a:p>
                      <a:pPr>
                        <a:defRPr sz="1300" b="1">
                          <a:solidFill>
                            <a:srgbClr val="FFFFFF"/>
                          </a:solidFill>
                        </a:defRPr>
                      </a:pPr>
                      <a:r>
                        <a:t>Regret</a:t>
                      </a:r>
                    </a:p>
                  </a:txBody>
                  <a:tcPr>
                    <a:solidFill>
                      <a:srgbClr val="1F3A5F"/>
                    </a:solidFill>
                  </a:tcPr>
                </a:tc>
                <a:tc>
                  <a:txBody>
                    <a:bodyPr/>
                    <a:lstStyle/>
                    <a:p>
                      <a:pPr>
                        <a:defRPr sz="1300" b="1">
                          <a:solidFill>
                            <a:srgbClr val="FFFFFF"/>
                          </a:solidFill>
                        </a:defRPr>
                      </a:pPr>
                      <a:r>
                        <a:t>Spearman</a:t>
                      </a:r>
                    </a:p>
                  </a:txBody>
                  <a:tcPr>
                    <a:solidFill>
                      <a:srgbClr val="1F3A5F"/>
                    </a:solidFill>
                  </a:tcPr>
                </a:tc>
                <a:tc>
                  <a:txBody>
                    <a:bodyPr/>
                    <a:lstStyle/>
                    <a:p>
                      <a:pPr>
                        <a:defRPr sz="1300" b="1">
                          <a:solidFill>
                            <a:srgbClr val="FFFFFF"/>
                          </a:solidFill>
                        </a:defRPr>
                      </a:pPr>
                      <a:r>
                        <a:t>Kendall</a:t>
                      </a:r>
                    </a:p>
                  </a:txBody>
                  <a:tcPr>
                    <a:solidFill>
                      <a:srgbClr val="1F3A5F"/>
                    </a:solidFill>
                  </a:tcPr>
                </a:tc>
                <a:tc>
                  <a:txBody>
                    <a:bodyPr/>
                    <a:lstStyle/>
                    <a:p>
                      <a:pPr>
                        <a:defRPr sz="1300" b="1">
                          <a:solidFill>
                            <a:srgbClr val="FFFFFF"/>
                          </a:solidFill>
                        </a:defRPr>
                      </a:pPr>
                      <a:r>
                        <a:t>Pairwise acc</a:t>
                      </a:r>
                    </a:p>
                  </a:txBody>
                  <a:tcPr>
                    <a:solidFill>
                      <a:srgbClr val="1F3A5F"/>
                    </a:solidFill>
                  </a:tcPr>
                </a:tc>
                <a:tc>
                  <a:txBody>
                    <a:bodyPr/>
                    <a:lstStyle/>
                    <a:p>
                      <a:pPr>
                        <a:defRPr sz="1300" b="1">
                          <a:solidFill>
                            <a:srgbClr val="FFFFFF"/>
                          </a:solidFill>
                        </a:defRPr>
                      </a:pPr>
                      <a:r>
                        <a:t>Top-1 hit</a:t>
                      </a:r>
                    </a:p>
                  </a:txBody>
                  <a:tcPr>
                    <a:solidFill>
                      <a:srgbClr val="1F3A5F"/>
                    </a:solidFill>
                  </a:tcPr>
                </a:tc>
                <a:tc>
                  <a:txBody>
                    <a:bodyPr/>
                    <a:lstStyle/>
                    <a:p>
                      <a:pPr>
                        <a:defRPr sz="1300" b="1">
                          <a:solidFill>
                            <a:srgbClr val="FFFFFF"/>
                          </a:solidFill>
                        </a:defRPr>
                      </a:pPr>
                      <a:r>
                        <a:t>NDCG@5</a:t>
                      </a:r>
                    </a:p>
                  </a:txBody>
                  <a:tcPr>
                    <a:solidFill>
                      <a:srgbClr val="1F3A5F"/>
                    </a:solidFill>
                  </a:tcPr>
                </a:tc>
              </a:tr>
              <a:tr h="365760">
                <a:tc>
                  <a:txBody>
                    <a:bodyPr/>
                    <a:lstStyle/>
                    <a:p>
                      <a:pPr>
                        <a:defRPr sz="1300" b="1"/>
                      </a:pPr>
                      <a:r>
                        <a:t>1</a:t>
                      </a:r>
                    </a:p>
                  </a:txBody>
                  <a:tcPr/>
                </a:tc>
                <a:tc>
                  <a:txBody>
                    <a:bodyPr/>
                    <a:lstStyle/>
                    <a:p>
                      <a:pPr>
                        <a:defRPr sz="1300"/>
                      </a:pPr>
                      <a:r>
                        <a:t>+1.1375</a:t>
                      </a:r>
                    </a:p>
                  </a:txBody>
                  <a:tcPr/>
                </a:tc>
                <a:tc>
                  <a:txBody>
                    <a:bodyPr/>
                    <a:lstStyle/>
                    <a:p>
                      <a:pPr>
                        <a:defRPr sz="1300"/>
                      </a:pPr>
                      <a:r>
                        <a:t>0.0</a:t>
                      </a:r>
                    </a:p>
                  </a:txBody>
                  <a:tcPr/>
                </a:tc>
                <a:tc>
                  <a:txBody>
                    <a:bodyPr/>
                    <a:lstStyle/>
                    <a:p>
                      <a:pPr>
                        <a:defRPr sz="1300"/>
                      </a:pPr>
                      <a:r>
                        <a:t>+0.525</a:t>
                      </a:r>
                    </a:p>
                  </a:txBody>
                  <a:tcPr/>
                </a:tc>
                <a:tc>
                  <a:txBody>
                    <a:bodyPr/>
                    <a:lstStyle/>
                    <a:p>
                      <a:pPr>
                        <a:defRPr sz="1300"/>
                      </a:pPr>
                      <a:r>
                        <a:t>+0.416</a:t>
                      </a:r>
                    </a:p>
                  </a:txBody>
                  <a:tcPr/>
                </a:tc>
                <a:tc>
                  <a:txBody>
                    <a:bodyPr/>
                    <a:lstStyle/>
                    <a:p>
                      <a:pPr>
                        <a:defRPr sz="1300"/>
                      </a:pPr>
                      <a:r>
                        <a:t>0.708</a:t>
                      </a:r>
                    </a:p>
                  </a:txBody>
                  <a:tcPr/>
                </a:tc>
                <a:tc>
                  <a:txBody>
                    <a:bodyPr/>
                    <a:lstStyle/>
                    <a:p>
                      <a:pPr>
                        <a:defRPr sz="1300"/>
                      </a:pPr>
                      <a:r>
                        <a:t>0</a:t>
                      </a:r>
                    </a:p>
                  </a:txBody>
                  <a:tcPr/>
                </a:tc>
                <a:tc>
                  <a:txBody>
                    <a:bodyPr/>
                    <a:lstStyle/>
                    <a:p>
                      <a:pPr>
                        <a:defRPr sz="1300"/>
                      </a:pPr>
                      <a:r>
                        <a:t>0.703</a:t>
                      </a:r>
                    </a:p>
                  </a:txBody>
                  <a:tcPr/>
                </a:tc>
              </a:tr>
              <a:tr h="365760">
                <a:tc>
                  <a:txBody>
                    <a:bodyPr/>
                    <a:lstStyle/>
                    <a:p>
                      <a:pPr>
                        <a:defRPr sz="1300" b="1"/>
                      </a:pPr>
                      <a:r>
                        <a:t>2</a:t>
                      </a:r>
                    </a:p>
                  </a:txBody>
                  <a:tcPr/>
                </a:tc>
                <a:tc>
                  <a:txBody>
                    <a:bodyPr/>
                    <a:lstStyle/>
                    <a:p>
                      <a:pPr>
                        <a:defRPr sz="1300"/>
                      </a:pPr>
                      <a:r>
                        <a:t>+1.1375</a:t>
                      </a:r>
                    </a:p>
                  </a:txBody>
                  <a:tcPr/>
                </a:tc>
                <a:tc>
                  <a:txBody>
                    <a:bodyPr/>
                    <a:lstStyle/>
                    <a:p>
                      <a:pPr>
                        <a:defRPr sz="1300"/>
                      </a:pPr>
                      <a:r>
                        <a:t>0.0</a:t>
                      </a:r>
                    </a:p>
                  </a:txBody>
                  <a:tcPr/>
                </a:tc>
                <a:tc>
                  <a:txBody>
                    <a:bodyPr/>
                    <a:lstStyle/>
                    <a:p>
                      <a:pPr>
                        <a:defRPr sz="1300"/>
                      </a:pPr>
                      <a:r>
                        <a:t>+0.711</a:t>
                      </a:r>
                    </a:p>
                  </a:txBody>
                  <a:tcPr/>
                </a:tc>
                <a:tc>
                  <a:txBody>
                    <a:bodyPr/>
                    <a:lstStyle/>
                    <a:p>
                      <a:pPr>
                        <a:defRPr sz="1300"/>
                      </a:pPr>
                      <a:r>
                        <a:t>+0.600</a:t>
                      </a:r>
                    </a:p>
                  </a:txBody>
                  <a:tcPr/>
                </a:tc>
                <a:tc>
                  <a:txBody>
                    <a:bodyPr/>
                    <a:lstStyle/>
                    <a:p>
                      <a:pPr>
                        <a:defRPr sz="1300"/>
                      </a:pPr>
                      <a:r>
                        <a:t>0.800</a:t>
                      </a:r>
                    </a:p>
                  </a:txBody>
                  <a:tcPr/>
                </a:tc>
                <a:tc>
                  <a:txBody>
                    <a:bodyPr/>
                    <a:lstStyle/>
                    <a:p>
                      <a:pPr>
                        <a:defRPr sz="1300"/>
                      </a:pPr>
                      <a:r>
                        <a:t>0</a:t>
                      </a:r>
                    </a:p>
                  </a:txBody>
                  <a:tcPr/>
                </a:tc>
                <a:tc>
                  <a:txBody>
                    <a:bodyPr/>
                    <a:lstStyle/>
                    <a:p>
                      <a:pPr>
                        <a:defRPr sz="1300"/>
                      </a:pPr>
                      <a:r>
                        <a:t>0.856</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A3 Figure: ranking_quality3.png (headline)</a:t>
            </a:r>
          </a:p>
        </p:txBody>
      </p:sp>
      <p:pic>
        <p:nvPicPr>
          <p:cNvPr id="3" name="Picture 2" descr="ranking_quality3.png"/>
          <p:cNvPicPr>
            <a:picLocks noChangeAspect="1"/>
          </p:cNvPicPr>
          <p:nvPr/>
        </p:nvPicPr>
        <p:blipFill>
          <a:blip r:embed="rId2"/>
          <a:stretch>
            <a:fillRect/>
          </a:stretch>
        </p:blipFill>
        <p:spPr>
          <a:xfrm>
            <a:off x="457200" y="1097280"/>
            <a:ext cx="5974080"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Bradley-Terry utility vs true ESOL LogS, per run</a:t>
            </a:r>
          </a:p>
          <a:p>
            <a:pPr lvl="1">
              <a:spcAft>
                <a:spcPts val="500"/>
              </a:spcAft>
              <a:defRPr sz="1500" b="0">
                <a:solidFill>
                  <a:srgbClr val="555555"/>
                </a:solidFill>
              </a:defRPr>
            </a:pPr>
            <a:r>
              <a:t>   –  Points trend upward, tighter in run 2 (Spearman 0.71) than run 1 (0.53)</a:t>
            </a:r>
          </a:p>
          <a:p>
            <a:pPr lvl="1">
              <a:spcAft>
                <a:spcPts val="500"/>
              </a:spcAft>
              <a:defRPr sz="1500" b="0">
                <a:solidFill>
                  <a:srgbClr val="555555"/>
                </a:solidFill>
              </a:defRPr>
            </a:pPr>
            <a:r>
              <a:t>   –  Good but not perfect ranking, matches 0.71-0.80 pairwise accuracy</a:t>
            </a:r>
          </a:p>
          <a:p>
            <a:pPr>
              <a:spcAft>
                <a:spcPts val="500"/>
              </a:spcAft>
              <a:defRPr sz="1800" b="1">
                <a:solidFill>
                  <a:srgbClr val="1F3A5F"/>
                </a:solidFill>
              </a:defRPr>
            </a:pPr>
            <a:r>
              <a:t>•  Take: YES the LLM is a decent pairwise ranker, and better at ranking than at regression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A3 Figure: convergence3.png</a:t>
            </a:r>
          </a:p>
        </p:txBody>
      </p:sp>
      <p:pic>
        <p:nvPicPr>
          <p:cNvPr id="3" name="Picture 2" descr="convergence3.png"/>
          <p:cNvPicPr>
            <a:picLocks noChangeAspect="1"/>
          </p:cNvPicPr>
          <p:nvPr/>
        </p:nvPicPr>
        <p:blipFill>
          <a:blip r:embed="rId2"/>
          <a:stretch>
            <a:fillRect/>
          </a:stretch>
        </p:blipFill>
        <p:spPr>
          <a:xfrm>
            <a:off x="457200" y="1097280"/>
            <a:ext cx="8193024" cy="5120640"/>
          </a:xfrm>
          <a:prstGeom prst="rect">
            <a:avLst/>
          </a:prstGeom>
        </p:spPr>
      </p:pic>
      <p:sp>
        <p:nvSpPr>
          <p:cNvPr id="4" name="TextBox 3"/>
          <p:cNvSpPr txBox="1"/>
          <p:nvPr/>
        </p:nvSpPr>
        <p:spPr>
          <a:xfrm>
            <a:off x="6766560" y="1097280"/>
            <a:ext cx="5029200" cy="5394960"/>
          </a:xfrm>
          <a:prstGeom prst="rect">
            <a:avLst/>
          </a:prstGeom>
          <a:noFill/>
        </p:spPr>
        <p:txBody>
          <a:bodyPr wrap="square">
            <a:spAutoFit/>
          </a:bodyPr>
          <a:lstStyle/>
          <a:p>
            <a:pPr>
              <a:spcAft>
                <a:spcPts val="500"/>
              </a:spcAft>
              <a:defRPr sz="1800" b="1">
                <a:solidFill>
                  <a:srgbClr val="1F3A5F"/>
                </a:solidFill>
              </a:defRPr>
            </a:pPr>
            <a:r>
              <a:t>•  Best-so-far vs iteration; real y-axis range now (stratified pool)</a:t>
            </a:r>
          </a:p>
          <a:p>
            <a:pPr lvl="1">
              <a:spcAft>
                <a:spcPts val="500"/>
              </a:spcAft>
              <a:defRPr sz="1500" b="0">
                <a:solidFill>
                  <a:srgbClr val="555555"/>
                </a:solidFill>
              </a:defRPr>
            </a:pPr>
            <a:r>
              <a:t>   –  Both runs climb from +0.21 seed and reach the +1.14 ceiling</a:t>
            </a:r>
          </a:p>
          <a:p>
            <a:pPr lvl="1">
              <a:spcAft>
                <a:spcPts val="500"/>
              </a:spcAft>
              <a:defRPr sz="1500" b="0">
                <a:solidFill>
                  <a:srgbClr val="555555"/>
                </a:solidFill>
              </a:defRPr>
            </a:pPr>
            <a:r>
              <a:t>   –  Gain happens in a few jumps (hence low success-rate)</a:t>
            </a:r>
          </a:p>
          <a:p>
            <a:pPr>
              <a:spcAft>
                <a:spcPts val="500"/>
              </a:spcAft>
              <a:defRPr sz="1800" b="1">
                <a:solidFill>
                  <a:srgbClr val="1F3A5F"/>
                </a:solidFill>
              </a:defRPr>
            </a:pPr>
            <a:r>
              <a:t>•  Take: with a proper pool, the PBO loop genuinely optimizes within budget</a:t>
            </a:r>
          </a:p>
          <a:p>
            <a:pPr>
              <a:spcAft>
                <a:spcPts val="500"/>
              </a:spcAft>
              <a:defRPr sz="1800" b="1">
                <a:solidFill>
                  <a:srgbClr val="1F3A5F"/>
                </a:solidFill>
              </a:defRPr>
            </a:pPr>
            <a:r>
              <a:t>•  Validation: --auto perfect ranker reaches ceiling fast; 40% noise degrades to Spearman ~0.59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468880"/>
            <a:ext cx="12191695"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9FC5E8"/>
                </a:solidFill>
              </a:defRPr>
            </a:pPr>
            <a:r>
              <a:t>Wrap-up</a:t>
            </a:r>
          </a:p>
          <a:p>
            <a:pPr algn="ctr">
              <a:spcAft>
                <a:spcPts val="400"/>
              </a:spcAft>
              <a:defRPr sz="3400" b="1">
                <a:solidFill>
                  <a:srgbClr val="FFFFFF"/>
                </a:solidFill>
              </a:defRPr>
            </a:pPr>
            <a:r>
              <a:t>Observations and Conclusions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Cross-approach comparison (compare_approaches.py)</a:t>
            </a:r>
          </a:p>
        </p:txBody>
      </p:sp>
      <p:graphicFrame>
        <p:nvGraphicFramePr>
          <p:cNvPr id="3" name="Table 2"/>
          <p:cNvGraphicFramePr>
            <a:graphicFrameLocks noGrp="1"/>
          </p:cNvGraphicFramePr>
          <p:nvPr/>
        </p:nvGraphicFramePr>
        <p:xfrm>
          <a:off x="457200" y="1097280"/>
          <a:ext cx="11247120" cy="1463040"/>
        </p:xfrm>
        <a:graphic>
          <a:graphicData uri="http://schemas.openxmlformats.org/drawingml/2006/table">
            <a:tbl>
              <a:tblPr firstRow="1" bandRow="1">
                <a:tableStyleId>{5C22544A-7EE6-4342-B048-85BDC9FD1C3A}</a:tableStyleId>
              </a:tblPr>
              <a:tblGrid>
                <a:gridCol w="2103120"/>
                <a:gridCol w="2377440"/>
                <a:gridCol w="1371600"/>
                <a:gridCol w="1280160"/>
                <a:gridCol w="4114800"/>
              </a:tblGrid>
              <a:tr h="365760">
                <a:tc>
                  <a:txBody>
                    <a:bodyPr/>
                    <a:lstStyle/>
                    <a:p>
                      <a:pPr>
                        <a:defRPr sz="1300" b="1">
                          <a:solidFill>
                            <a:srgbClr val="FFFFFF"/>
                          </a:solidFill>
                        </a:defRPr>
                      </a:pPr>
                      <a:r>
                        <a:t>Approach</a:t>
                      </a:r>
                    </a:p>
                  </a:txBody>
                  <a:tcPr>
                    <a:solidFill>
                      <a:srgbClr val="1F3A5F"/>
                    </a:solidFill>
                  </a:tcPr>
                </a:tc>
                <a:tc>
                  <a:txBody>
                    <a:bodyPr/>
                    <a:lstStyle/>
                    <a:p>
                      <a:pPr>
                        <a:defRPr sz="1300" b="1">
                          <a:solidFill>
                            <a:srgbClr val="FFFFFF"/>
                          </a:solidFill>
                        </a:defRPr>
                      </a:pPr>
                      <a:r>
                        <a:t>Best (mean/max)</a:t>
                      </a:r>
                    </a:p>
                  </a:txBody>
                  <a:tcPr>
                    <a:solidFill>
                      <a:srgbClr val="1F3A5F"/>
                    </a:solidFill>
                  </a:tcPr>
                </a:tc>
                <a:tc>
                  <a:txBody>
                    <a:bodyPr/>
                    <a:lstStyle/>
                    <a:p>
                      <a:pPr>
                        <a:defRPr sz="1300" b="1">
                          <a:solidFill>
                            <a:srgbClr val="FFFFFF"/>
                          </a:solidFill>
                        </a:defRPr>
                      </a:pPr>
                      <a:r>
                        <a:t>Improve</a:t>
                      </a:r>
                    </a:p>
                  </a:txBody>
                  <a:tcPr>
                    <a:solidFill>
                      <a:srgbClr val="1F3A5F"/>
                    </a:solidFill>
                  </a:tcPr>
                </a:tc>
                <a:tc>
                  <a:txBody>
                    <a:bodyPr/>
                    <a:lstStyle/>
                    <a:p>
                      <a:pPr>
                        <a:defRPr sz="1300" b="1">
                          <a:solidFill>
                            <a:srgbClr val="FFFFFF"/>
                          </a:solidFill>
                        </a:defRPr>
                      </a:pPr>
                      <a:r>
                        <a:t>Success</a:t>
                      </a:r>
                    </a:p>
                  </a:txBody>
                  <a:tcPr>
                    <a:solidFill>
                      <a:srgbClr val="1F3A5F"/>
                    </a:solidFill>
                  </a:tcPr>
                </a:tc>
                <a:tc>
                  <a:txBody>
                    <a:bodyPr/>
                    <a:lstStyle/>
                    <a:p>
                      <a:pPr>
                        <a:defRPr sz="1300" b="1">
                          <a:solidFill>
                            <a:srgbClr val="FFFFFF"/>
                          </a:solidFill>
                        </a:defRPr>
                      </a:pPr>
                      <a:r>
                        <a:t>LLM quality (own metric)</a:t>
                      </a:r>
                    </a:p>
                  </a:txBody>
                  <a:tcPr>
                    <a:solidFill>
                      <a:srgbClr val="1F3A5F"/>
                    </a:solidFill>
                  </a:tcPr>
                </a:tc>
              </a:tr>
              <a:tr h="365760">
                <a:tc>
                  <a:txBody>
                    <a:bodyPr/>
                    <a:lstStyle/>
                    <a:p>
                      <a:pPr>
                        <a:defRPr sz="1300" b="1"/>
                      </a:pPr>
                      <a:r>
                        <a:t>A1 direct</a:t>
                      </a:r>
                    </a:p>
                  </a:txBody>
                  <a:tcPr/>
                </a:tc>
                <a:tc>
                  <a:txBody>
                    <a:bodyPr/>
                    <a:lstStyle/>
                    <a:p>
                      <a:pPr>
                        <a:defRPr sz="1300"/>
                      </a:pPr>
                      <a:r>
                        <a:t>1.94 / 3.31</a:t>
                      </a:r>
                    </a:p>
                  </a:txBody>
                  <a:tcPr/>
                </a:tc>
                <a:tc>
                  <a:txBody>
                    <a:bodyPr/>
                    <a:lstStyle/>
                    <a:p>
                      <a:pPr>
                        <a:defRPr sz="1300"/>
                      </a:pPr>
                      <a:r>
                        <a:t>+1.73</a:t>
                      </a:r>
                    </a:p>
                  </a:txBody>
                  <a:tcPr/>
                </a:tc>
                <a:tc>
                  <a:txBody>
                    <a:bodyPr/>
                    <a:lstStyle/>
                    <a:p>
                      <a:pPr>
                        <a:defRPr sz="1300"/>
                      </a:pPr>
                      <a:r>
                        <a:t>0.47</a:t>
                      </a:r>
                    </a:p>
                  </a:txBody>
                  <a:tcPr/>
                </a:tc>
                <a:tc>
                  <a:txBody>
                    <a:bodyPr/>
                    <a:lstStyle/>
                    <a:p>
                      <a:pPr>
                        <a:defRPr sz="1300"/>
                      </a:pPr>
                      <a:r>
                        <a:t>hit-rate 0.92</a:t>
                      </a:r>
                    </a:p>
                  </a:txBody>
                  <a:tcPr/>
                </a:tc>
              </a:tr>
              <a:tr h="365760">
                <a:tc>
                  <a:txBody>
                    <a:bodyPr/>
                    <a:lstStyle/>
                    <a:p>
                      <a:pPr>
                        <a:defRPr sz="1300" b="1"/>
                      </a:pPr>
                      <a:r>
                        <a:t>A2 regressor</a:t>
                      </a:r>
                    </a:p>
                  </a:txBody>
                  <a:tcPr/>
                </a:tc>
                <a:tc>
                  <a:txBody>
                    <a:bodyPr/>
                    <a:lstStyle/>
                    <a:p>
                      <a:pPr>
                        <a:defRPr sz="1300"/>
                      </a:pPr>
                      <a:r>
                        <a:t>0.21 / 0.21</a:t>
                      </a:r>
                    </a:p>
                  </a:txBody>
                  <a:tcPr/>
                </a:tc>
                <a:tc>
                  <a:txBody>
                    <a:bodyPr/>
                    <a:lstStyle/>
                    <a:p>
                      <a:pPr>
                        <a:defRPr sz="1300"/>
                      </a:pPr>
                      <a:r>
                        <a:t>+0.00</a:t>
                      </a:r>
                    </a:p>
                  </a:txBody>
                  <a:tcPr/>
                </a:tc>
                <a:tc>
                  <a:txBody>
                    <a:bodyPr/>
                    <a:lstStyle/>
                    <a:p>
                      <a:pPr>
                        <a:defRPr sz="1300"/>
                      </a:pPr>
                      <a:r>
                        <a:t>0.10</a:t>
                      </a:r>
                    </a:p>
                  </a:txBody>
                  <a:tcPr/>
                </a:tc>
                <a:tc>
                  <a:txBody>
                    <a:bodyPr/>
                    <a:lstStyle/>
                    <a:p>
                      <a:pPr>
                        <a:defRPr sz="1300"/>
                      </a:pPr>
                      <a:r>
                        <a:t>MAE 0.82, R2 -1.30, sign 0.78</a:t>
                      </a:r>
                    </a:p>
                  </a:txBody>
                  <a:tcPr/>
                </a:tc>
              </a:tr>
              <a:tr h="365760">
                <a:tc>
                  <a:txBody>
                    <a:bodyPr/>
                    <a:lstStyle/>
                    <a:p>
                      <a:pPr>
                        <a:defRPr sz="1300" b="1"/>
                      </a:pPr>
                      <a:r>
                        <a:t>A3 ranker</a:t>
                      </a:r>
                    </a:p>
                  </a:txBody>
                  <a:tcPr/>
                </a:tc>
                <a:tc>
                  <a:txBody>
                    <a:bodyPr/>
                    <a:lstStyle/>
                    <a:p>
                      <a:pPr>
                        <a:defRPr sz="1300"/>
                      </a:pPr>
                      <a:r>
                        <a:t>1.14 / 1.14</a:t>
                      </a:r>
                    </a:p>
                  </a:txBody>
                  <a:tcPr/>
                </a:tc>
                <a:tc>
                  <a:txBody>
                    <a:bodyPr/>
                    <a:lstStyle/>
                    <a:p>
                      <a:pPr>
                        <a:defRPr sz="1300"/>
                      </a:pPr>
                      <a:r>
                        <a:t>+0.93</a:t>
                      </a:r>
                    </a:p>
                  </a:txBody>
                  <a:tcPr/>
                </a:tc>
                <a:tc>
                  <a:txBody>
                    <a:bodyPr/>
                    <a:lstStyle/>
                    <a:p>
                      <a:pPr>
                        <a:defRPr sz="1300"/>
                      </a:pPr>
                      <a:r>
                        <a:t>0.10</a:t>
                      </a:r>
                    </a:p>
                  </a:txBody>
                  <a:tcPr/>
                </a:tc>
                <a:tc>
                  <a:txBody>
                    <a:bodyPr/>
                    <a:lstStyle/>
                    <a:p>
                      <a:pPr>
                        <a:defRPr sz="1300"/>
                      </a:pPr>
                      <a:r>
                        <a:t>pairwise 0.75, Spearman +0.62, NDCG 0.78</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Three big findings</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1. A cheap descriptor oracle is exploitable (A1)</a:t>
            </a:r>
          </a:p>
          <a:p>
            <a:pPr lvl="1">
              <a:spcAft>
                <a:spcPts val="500"/>
              </a:spcAft>
              <a:defRPr sz="1500" b="0">
                <a:solidFill>
                  <a:srgbClr val="555555"/>
                </a:solidFill>
              </a:defRPr>
            </a:pPr>
            <a:r>
              <a:t>   –  The LLM optimizes ESOL exactly as written until hard constraints force real chemistry</a:t>
            </a:r>
          </a:p>
          <a:p>
            <a:pPr>
              <a:spcAft>
                <a:spcPts val="500"/>
              </a:spcAft>
              <a:defRPr sz="1800" b="1">
                <a:solidFill>
                  <a:srgbClr val="1F3A5F"/>
                </a:solidFill>
              </a:defRPr>
            </a:pPr>
            <a:r>
              <a:t>•  2. The LLM is a poor regressor but a decent ranker (A2 vs A3)</a:t>
            </a:r>
          </a:p>
          <a:p>
            <a:pPr lvl="1">
              <a:spcAft>
                <a:spcPts val="500"/>
              </a:spcAft>
              <a:defRPr sz="1500" b="0">
                <a:solidFill>
                  <a:srgbClr val="555555"/>
                </a:solidFill>
              </a:defRPr>
            </a:pPr>
            <a:r>
              <a:t>   –  Regressor: R^2 negative, confidence meaningless. Ranker: 71-80% pairwise correct</a:t>
            </a:r>
          </a:p>
          <a:p>
            <a:pPr lvl="1">
              <a:spcAft>
                <a:spcPts val="500"/>
              </a:spcAft>
              <a:defRPr sz="1500" b="0">
                <a:solidFill>
                  <a:srgbClr val="555555"/>
                </a:solidFill>
              </a:defRPr>
            </a:pPr>
            <a:r>
              <a:t>   –  This is the central result: comparison is the strength, exact prediction the weakness</a:t>
            </a:r>
          </a:p>
          <a:p>
            <a:pPr>
              <a:spcAft>
                <a:spcPts val="500"/>
              </a:spcAft>
              <a:defRPr sz="1800" b="1">
                <a:solidFill>
                  <a:srgbClr val="1F3A5F"/>
                </a:solidFill>
              </a:defRPr>
            </a:pPr>
            <a:r>
              <a:t>•  3. Search-space design is the real bottleneck (A2 vs A3)</a:t>
            </a:r>
          </a:p>
          <a:p>
            <a:pPr lvl="1">
              <a:spcAft>
                <a:spcPts val="500"/>
              </a:spcAft>
              <a:defRPr sz="1500" b="0">
                <a:solidFill>
                  <a:srgbClr val="555555"/>
                </a:solidFill>
              </a:defRPr>
            </a:pPr>
            <a:r>
              <a:t>   –  Same loop: a failure on a dead pool (A2), a success on a stratified pool (A3)</a:t>
            </a:r>
          </a:p>
          <a:p>
            <a:pPr>
              <a:spcAft>
                <a:spcPts val="500"/>
              </a:spcAft>
              <a:defRPr sz="1800" b="1">
                <a:solidFill>
                  <a:srgbClr val="1F3A5F"/>
                </a:solidFill>
              </a:defRPr>
            </a:pPr>
            <a:r>
              <a:t>•  Plus: one shared, unit-tested metrics module -&gt; every number is validated, none hallucinated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spcAft>
                <a:spcPts val="400"/>
              </a:spcAft>
              <a:defRPr sz="2400" b="1">
                <a:solidFill>
                  <a:srgbClr val="FFFFFF"/>
                </a:solidFill>
              </a:defRPr>
            </a:pPr>
            <a:r>
              <a:t>Future work</a:t>
            </a:r>
          </a:p>
        </p:txBody>
      </p:sp>
      <p:sp>
        <p:nvSpPr>
          <p:cNvPr id="3" name="TextBox 2"/>
          <p:cNvSpPr txBox="1"/>
          <p:nvPr/>
        </p:nvSpPr>
        <p:spPr>
          <a:xfrm>
            <a:off x="548640" y="1005840"/>
            <a:ext cx="11064240" cy="5577840"/>
          </a:xfrm>
          <a:prstGeom prst="rect">
            <a:avLst/>
          </a:prstGeom>
          <a:noFill/>
        </p:spPr>
        <p:txBody>
          <a:bodyPr wrap="square">
            <a:spAutoFit/>
          </a:bodyPr>
          <a:lstStyle/>
          <a:p>
            <a:pPr>
              <a:spcAft>
                <a:spcPts val="500"/>
              </a:spcAft>
              <a:defRPr sz="1800" b="1">
                <a:solidFill>
                  <a:srgbClr val="1F3A5F"/>
                </a:solidFill>
              </a:defRPr>
            </a:pPr>
            <a:r>
              <a:t>•  Fix the oracle's exploitability: cap LogS / penalize MW, or use a stronger solubility predictor</a:t>
            </a:r>
          </a:p>
          <a:p>
            <a:pPr>
              <a:spcAft>
                <a:spcPts val="500"/>
              </a:spcAft>
              <a:defRPr sz="1800" b="1">
                <a:solidFill>
                  <a:srgbClr val="1F3A5F"/>
                </a:solidFill>
              </a:defRPr>
            </a:pPr>
            <a:r>
              <a:t>•  Fix A2's pool: re-run on an ESOL-stratified pool (proven in A3) for a fair EI-vs-UCB fight</a:t>
            </a:r>
          </a:p>
          <a:p>
            <a:pPr>
              <a:spcAft>
                <a:spcPts val="500"/>
              </a:spcAft>
              <a:defRPr sz="1800" b="1">
                <a:solidFill>
                  <a:srgbClr val="1F3A5F"/>
                </a:solidFill>
              </a:defRPr>
            </a:pPr>
            <a:r>
              <a:t>•  More runs: with API access, 5-10 seeds per setting + confidence intervals</a:t>
            </a:r>
          </a:p>
          <a:p>
            <a:pPr>
              <a:spcAft>
                <a:spcPts val="500"/>
              </a:spcAft>
              <a:defRPr sz="1800" b="1">
                <a:solidFill>
                  <a:srgbClr val="1F3A5F"/>
                </a:solidFill>
              </a:defRPr>
            </a:pPr>
            <a:r>
              <a:t>•  Better uncertainty: numeric range, multi-sample spread, or Bradley-Terry std_err instead of self-reported confidence</a:t>
            </a:r>
          </a:p>
          <a:p>
            <a:pPr>
              <a:spcAft>
                <a:spcPts val="500"/>
              </a:spcAft>
              <a:defRPr sz="1800" b="1">
                <a:solidFill>
                  <a:srgbClr val="1F3A5F"/>
                </a:solidFill>
              </a:defRPr>
            </a:pPr>
            <a:r>
              <a:t>•  Combine approaches: LLM proposes candidates (A1) -&gt; rank by duels (A3) -&gt; evaluate. Use the LLM where it is strong</a:t>
            </a:r>
          </a:p>
          <a:p>
            <a:pPr>
              <a:spcAft>
                <a:spcPts val="500"/>
              </a:spcAft>
              <a:defRPr sz="1800" b="1">
                <a:solidFill>
                  <a:srgbClr val="1F3A5F"/>
                </a:solidFill>
              </a:defRPr>
            </a:pPr>
            <a:r>
              <a:t>•  Fine-tuning on solubility data; scale A3 duels (more duels -&gt; tighter ranking, likely raises top-1 hit)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286000"/>
            <a:ext cx="12191695" cy="1554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3600" b="1">
                <a:solidFill>
                  <a:srgbClr val="FFFFFF"/>
                </a:solidFill>
              </a:defRPr>
            </a:pPr>
            <a:r>
              <a:t>Thank you</a:t>
            </a:r>
          </a:p>
        </p:txBody>
      </p:sp>
      <p:sp>
        <p:nvSpPr>
          <p:cNvPr id="3" name="TextBox 2"/>
          <p:cNvSpPr txBox="1"/>
          <p:nvPr/>
        </p:nvSpPr>
        <p:spPr>
          <a:xfrm>
            <a:off x="914400" y="4023360"/>
            <a:ext cx="10332720" cy="1097280"/>
          </a:xfrm>
          <a:prstGeom prst="rect">
            <a:avLst/>
          </a:prstGeom>
          <a:noFill/>
        </p:spPr>
        <p:txBody>
          <a:bodyPr wrap="square">
            <a:spAutoFit/>
          </a:bodyPr>
          <a:lstStyle/>
          <a:p>
            <a:pPr algn="ctr">
              <a:spcAft>
                <a:spcPts val="400"/>
              </a:spcAft>
              <a:defRPr sz="2000" b="0">
                <a:solidFill>
                  <a:srgbClr val="555555"/>
                </a:solidFill>
              </a:defRPr>
            </a:pPr>
            <a:r>
              <a:t>Questions?</a:t>
            </a:r>
          </a:p>
        </p:txBody>
      </p:sp>
      <p:sp>
        <p:nvSpPr>
          <p:cNvPr id="4" name="TextBox 3"/>
          <p:cNvSpPr txBox="1"/>
          <p:nvPr/>
        </p:nvSpPr>
        <p:spPr>
          <a:xfrm>
            <a:off x="914400" y="6035040"/>
            <a:ext cx="10332720" cy="548640"/>
          </a:xfrm>
          <a:prstGeom prst="rect">
            <a:avLst/>
          </a:prstGeom>
          <a:noFill/>
        </p:spPr>
        <p:txBody>
          <a:bodyPr wrap="square">
            <a:spAutoFit/>
          </a:bodyPr>
          <a:lstStyle/>
          <a:p>
            <a:pPr algn="ctr">
              <a:spcAft>
                <a:spcPts val="400"/>
              </a:spcAft>
              <a:defRPr sz="1400" b="0">
                <a:solidFill>
                  <a:srgbClr val="555555"/>
                </a:solidFill>
              </a:defRPr>
            </a:pPr>
            <a:r>
              <a:t>Anand Karna  |  Code, figures and per-run metric CSVs all reproducible from the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